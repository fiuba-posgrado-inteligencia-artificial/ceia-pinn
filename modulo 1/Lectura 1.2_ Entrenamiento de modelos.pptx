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embeddedFontLst>
    <p:embeddedFont>
      <p:font typeface="Gill Sans" panose="020B0604020202020204" charset="0"/>
      <p:regular r:id="rId49"/>
      <p:bold r:id="rId50"/>
    </p:embeddedFont>
    <p:embeddedFont>
      <p:font typeface="Play" panose="020B0604020202020204" charset="0"/>
      <p:regular r:id="rId51"/>
      <p:bold r:id="rId52"/>
    </p:embeddedFont>
    <p:embeddedFont>
      <p:font typeface="Roboto" panose="02000000000000000000" pitchFamily="2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obrio, Carlos" userId="fb28f1a7-6047-47b6-ad0c-d024d891f8b1" providerId="ADAL" clId="{1E5D6CD0-B7B0-49C0-B707-82297CDD332C}"/>
    <pc:docChg chg="custSel modMainMaster">
      <pc:chgData name="Massobrio, Carlos" userId="fb28f1a7-6047-47b6-ad0c-d024d891f8b1" providerId="ADAL" clId="{1E5D6CD0-B7B0-49C0-B707-82297CDD332C}" dt="2025-06-19T13:19:21.212" v="4" actId="20577"/>
      <pc:docMkLst>
        <pc:docMk/>
      </pc:docMkLst>
      <pc:sldMasterChg chg="modSldLayout">
        <pc:chgData name="Massobrio, Carlos" userId="fb28f1a7-6047-47b6-ad0c-d024d891f8b1" providerId="ADAL" clId="{1E5D6CD0-B7B0-49C0-B707-82297CDD332C}" dt="2025-06-19T13:19:21.212" v="4" actId="20577"/>
        <pc:sldMasterMkLst>
          <pc:docMk/>
          <pc:sldMasterMk cId="0" sldId="2147483659"/>
        </pc:sldMasterMkLst>
        <pc:sldLayoutChg chg="modSp mod">
          <pc:chgData name="Massobrio, Carlos" userId="fb28f1a7-6047-47b6-ad0c-d024d891f8b1" providerId="ADAL" clId="{1E5D6CD0-B7B0-49C0-B707-82297CDD332C}" dt="2025-06-19T13:19:21.212" v="4" actId="20577"/>
          <pc:sldLayoutMkLst>
            <pc:docMk/>
            <pc:sldMasterMk cId="0" sldId="2147483659"/>
            <pc:sldLayoutMk cId="0" sldId="2147483648"/>
          </pc:sldLayoutMkLst>
          <pc:spChg chg="mod">
            <ac:chgData name="Massobrio, Carlos" userId="fb28f1a7-6047-47b6-ad0c-d024d891f8b1" providerId="ADAL" clId="{1E5D6CD0-B7B0-49C0-B707-82297CDD332C}" dt="2025-06-19T13:19:21.212" v="4" actId="20577"/>
            <ac:spMkLst>
              <pc:docMk/>
              <pc:sldMasterMk cId="0" sldId="2147483659"/>
              <pc:sldLayoutMk cId="0" sldId="2147483648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a5d2d61c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fa5d2d61cb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2fa5d2d61cb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a5d2d61c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fa5d2d61cb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fa5d2d61cb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a5d2d61cb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fa5d2d61cb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2fa5d2d61cb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a5d2d61cb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fa5d2d61cb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a5d2d61cb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a5d2d61c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fa5d2d61cb_0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2fa5d2d61cb_0_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fa5d2d61cb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fa5d2d61cb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2fa5d2d61cb_0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fa5d2d61cb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fa5d2d61cb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2fa5d2d61cb_0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a5d2d61c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fa5d2d61cb_0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2fa5d2d61cb_0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a5d2d61cb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fa5d2d61cb_0_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2fa5d2d61cb_0_1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fa5d2d61cb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fa5d2d61cb_0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fa5d2d61cb_0_1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fa5d2d61cb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fa5d2d61cb_0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2fa5d2d61cb_0_1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a5d2d61cb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fa5d2d61cb_0_1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fa5d2d61cb_0_1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fa5d2d61cb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fa5d2d61cb_0_1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a5d2d61cb_0_1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fa5d2d61c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fa5d2d61cb_0_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fa5d2d61cb_0_1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a5d2d61cb_0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g2fa5d2d61cb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fa5d2d61cb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fa5d2d61cb_0_2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2fa5d2d61cb_0_2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fa5d2d61cb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fa5d2d61cb_0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2fa5d2d61cb_0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fa5d2d61cb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fa5d2d61cb_0_2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2fa5d2d61cb_0_2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fa5d2d61cb_0_2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3" name="Google Shape;363;g2fa5d2d61cb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fa5d2d61cb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fa5d2d61cb_0_2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g2fa5d2d61cb_0_2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fa5d2d61cb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fa5d2d61cb_0_2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fa5d2d61cb_0_2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a5d2d61cb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a5d2d61cb_0_2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2fa5d2d61cb_0_2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fa5d2d61cb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fa5d2d61cb_0_2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2fa5d2d61cb_0_2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fa5d2d61cb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fa5d2d61cb_0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2fa5d2d61cb_0_2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fa5d2d61cb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fa5d2d61cb_0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2fa5d2d61cb_0_3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fa5d2d61cb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fa5d2d61cb_0_3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2fa5d2d61cb_0_3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fa5d2d61cb_0_3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1" name="Google Shape;441;g2fa5d2d61cb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fa5d2d61cb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fa5d2d61cb_0_3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a5d2d61cb_0_3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fa5d2d61cb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fa5d2d61cb_0_3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g2fa5d2d61cb_0_3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fa5d2d61cb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fa5d2d61cb_0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2fa5d2d61cb_0_3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fa5d2d61cb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fa5d2d61cb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g2fa5d2d61cb_0_3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fa5d2d61cb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fa5d2d61cb_0_3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2fa5d2d61cb_0_3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fa5d2d61cb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fa5d2d61cb_0_4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g2fa5d2d61cb_0_4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fa5d2d61cb_0_4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0" name="Google Shape;510;g2fa5d2d61cb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a5d2d61cb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fa5d2d61cb_0_4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2fa5d2d61cb_0_4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fa5d2d61cb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fa5d2d61cb_0_4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g2fa5d2d61cb_0_4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3" name="Google Shape;5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ción">
  <p:cSld name="Presentación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 descr="Fondo digital de puntos de datos"/>
          <p:cNvPicPr preferRelativeResize="0"/>
          <p:nvPr/>
        </p:nvPicPr>
        <p:blipFill rotWithShape="1">
          <a:blip r:embed="rId2">
            <a:alphaModFix/>
          </a:blip>
          <a:srcRect l="115" r="21727"/>
          <a:stretch/>
        </p:blipFill>
        <p:spPr>
          <a:xfrm rot="-5400000" flipH="1">
            <a:off x="6347691" y="1013691"/>
            <a:ext cx="6858000" cy="4830618"/>
          </a:xfrm>
          <a:prstGeom prst="flowChartManualInpu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16724" y="420175"/>
            <a:ext cx="7413300" cy="3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ill Sans"/>
              <a:buNone/>
              <a:defRPr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" name="Google Shape;17;p2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3273550" cy="1254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/>
        </p:nvSpPr>
        <p:spPr>
          <a:xfrm>
            <a:off x="216725" y="4686300"/>
            <a:ext cx="7144500" cy="18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419" sz="2200" b="1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Redes Neuronales Informadas por Física</a:t>
            </a:r>
            <a:endParaRPr sz="2200" b="1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419" sz="2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Especialización en Inteligencia Artificial – B32025</a:t>
            </a:r>
            <a:endParaRPr sz="2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419" sz="2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Docentes: </a:t>
            </a:r>
            <a:r>
              <a:rPr lang="es-419" sz="2200" b="0" i="0" u="none" strike="noStrike" cap="none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Benjamin</a:t>
            </a:r>
            <a:r>
              <a:rPr lang="es-419" sz="2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A. </a:t>
            </a:r>
            <a:r>
              <a:rPr lang="es-419" sz="2200" b="0" i="0" u="none" strike="noStrike" cap="none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Tourn</a:t>
            </a:r>
            <a:r>
              <a:rPr lang="es-419" sz="22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- Carlos G. Massobrio</a:t>
            </a:r>
            <a:endParaRPr sz="22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_2 1">
  <p:cSld name="Contenido_2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550875" y="2730699"/>
            <a:ext cx="11090400" cy="4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marL="914400" lvl="1" indent="-34925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>
                <a:solidFill>
                  <a:schemeClr val="dk1"/>
                </a:solidFill>
              </a:defRPr>
            </a:lvl2pPr>
            <a:lvl3pPr marL="1371600" lvl="2" indent="-34925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>
                <a:solidFill>
                  <a:schemeClr val="dk1"/>
                </a:solidFill>
              </a:defRPr>
            </a:lvl3pPr>
            <a:lvl4pPr marL="1828800" lvl="3" indent="-34925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>
                <a:solidFill>
                  <a:schemeClr val="dk1"/>
                </a:solidFill>
              </a:defRPr>
            </a:lvl4pPr>
            <a:lvl5pPr marL="2286000" lvl="4" indent="-34925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>
                <a:solidFill>
                  <a:schemeClr val="dk1"/>
                </a:solidFill>
              </a:defRPr>
            </a:lvl5pPr>
            <a:lvl6pPr marL="2743200" lvl="5" indent="-3873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marL="3200400" lvl="6" indent="-3873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marL="3657600" lvl="7" indent="-3873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marL="4114800" lvl="8" indent="-3873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>
            <a:endParaRPr/>
          </a:p>
        </p:txBody>
      </p:sp>
      <p:pic>
        <p:nvPicPr>
          <p:cNvPr id="21" name="Google Shape;21;p3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" y="6389539"/>
            <a:ext cx="1222519" cy="46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 descr="Fondo digital de puntos de datos"/>
          <p:cNvPicPr preferRelativeResize="0"/>
          <p:nvPr/>
        </p:nvPicPr>
        <p:blipFill rotWithShape="1">
          <a:blip r:embed="rId3">
            <a:alphaModFix/>
          </a:blip>
          <a:srcRect l="20685" b="63013"/>
          <a:stretch/>
        </p:blipFill>
        <p:spPr>
          <a:xfrm>
            <a:off x="0" y="0"/>
            <a:ext cx="12192000" cy="25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33425" y="111325"/>
            <a:ext cx="11376600" cy="23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ill Sans"/>
              <a:buNone/>
              <a:defRPr sz="5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_2">
  <p:cSld name="Contenido_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550863" y="1018108"/>
            <a:ext cx="11090274" cy="391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4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" y="6389526"/>
            <a:ext cx="1222519" cy="46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 descr="Fondo digital de puntos de datos"/>
          <p:cNvPicPr preferRelativeResize="0"/>
          <p:nvPr/>
        </p:nvPicPr>
        <p:blipFill rotWithShape="1">
          <a:blip r:embed="rId3">
            <a:alphaModFix/>
          </a:blip>
          <a:srcRect l="20688" b="88037"/>
          <a:stretch/>
        </p:blipFill>
        <p:spPr>
          <a:xfrm>
            <a:off x="0" y="0"/>
            <a:ext cx="12192000" cy="82120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25" cy="47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ulo + subtitulo_2">
  <p:cSld name="Titulo + subtitulo_2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  <a:defRPr sz="5400"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549537" y="3646704"/>
            <a:ext cx="5179330" cy="239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35" name="Google Shape;35;p5" descr="Un primer plano de un grafo"/>
          <p:cNvPicPr preferRelativeResize="0"/>
          <p:nvPr/>
        </p:nvPicPr>
        <p:blipFill rotWithShape="1">
          <a:blip r:embed="rId2">
            <a:alphaModFix/>
          </a:blip>
          <a:srcRect l="9" r="7"/>
          <a:stretch/>
        </p:blipFill>
        <p:spPr>
          <a:xfrm>
            <a:off x="6095588" y="0"/>
            <a:ext cx="609599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" y="6389539"/>
            <a:ext cx="1222519" cy="46847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sldNum" idx="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">
  <p:cSld name="Contenido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 descr="Imagen en blanco y negro&#10;&#10;Descripción generada automáticamente con confianza me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6525"/>
            <a:ext cx="4581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162932" y="196900"/>
            <a:ext cx="3858600" cy="51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  <a:defRPr sz="3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empty">
  <p:cSld name="contenido empt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  <a:defRPr sz="4000"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581343" y="2103039"/>
            <a:ext cx="7929940" cy="397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marL="1371600" lvl="2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304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46" name="Google Shape;46;p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3418" y="6272976"/>
            <a:ext cx="1222519" cy="468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_2">
  <p:cSld name="Cierre_2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ctrTitle"/>
          </p:nvPr>
        </p:nvSpPr>
        <p:spPr>
          <a:xfrm>
            <a:off x="1026118" y="420174"/>
            <a:ext cx="3973385" cy="369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ill Sans"/>
              <a:buNone/>
              <a:defRPr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9" name="Google Shape;49;p8" descr="Primer plano de una red"/>
          <p:cNvPicPr preferRelativeResize="0"/>
          <p:nvPr/>
        </p:nvPicPr>
        <p:blipFill rotWithShape="1">
          <a:blip r:embed="rId2">
            <a:alphaModFix/>
          </a:blip>
          <a:srcRect b="8280"/>
          <a:stretch/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 extrusionOk="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1025525" y="4278313"/>
            <a:ext cx="4032250" cy="169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1" name="Google Shape;51;p8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" y="6389526"/>
            <a:ext cx="1222519" cy="468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e sección">
  <p:cSld name="Título de secció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>
            <a:spLocks noGrp="1"/>
          </p:cNvSpPr>
          <p:nvPr>
            <p:ph type="pic" idx="2"/>
          </p:nvPr>
        </p:nvSpPr>
        <p:spPr>
          <a:xfrm>
            <a:off x="0" y="4594"/>
            <a:ext cx="12192000" cy="3771878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9"/>
          <p:cNvSpPr/>
          <p:nvPr/>
        </p:nvSpPr>
        <p:spPr>
          <a:xfrm>
            <a:off x="1225773" y="3852225"/>
            <a:ext cx="360000" cy="360000"/>
          </a:xfrm>
          <a:prstGeom prst="ellipse">
            <a:avLst/>
          </a:prstGeom>
          <a:gradFill>
            <a:gsLst>
              <a:gs pos="0">
                <a:schemeClr val="lt2"/>
              </a:gs>
              <a:gs pos="60000">
                <a:schemeClr val="lt2"/>
              </a:gs>
              <a:gs pos="100000">
                <a:srgbClr val="F4F1F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4362522" y="6498816"/>
            <a:ext cx="3466955" cy="17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contenidos 1">
  <p:cSld name="Dos contenidos 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lt2"/>
              </a:gs>
              <a:gs pos="60000">
                <a:schemeClr val="lt2"/>
              </a:gs>
              <a:gs pos="100000">
                <a:srgbClr val="F4F1F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1" name="Google Shape;61;p10"/>
          <p:cNvGrpSpPr/>
          <p:nvPr/>
        </p:nvGrpSpPr>
        <p:grpSpPr>
          <a:xfrm>
            <a:off x="233344" y="5384019"/>
            <a:ext cx="828357" cy="828357"/>
            <a:chOff x="2895711" y="1234487"/>
            <a:chExt cx="828357" cy="828357"/>
          </a:xfrm>
        </p:grpSpPr>
        <p:sp>
          <p:nvSpPr>
            <p:cNvPr id="62" name="Google Shape;62;p10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EBE6EC"/>
                </a:gs>
                <a:gs pos="30000">
                  <a:srgbClr val="EBE6EC"/>
                </a:gs>
                <a:gs pos="40000">
                  <a:srgbClr val="EEEAEF"/>
                </a:gs>
                <a:gs pos="60000">
                  <a:srgbClr val="EBE6EC"/>
                </a:gs>
                <a:gs pos="100000">
                  <a:schemeClr val="lt2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" name="Google Shape;63;p10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50000">
                  <a:schemeClr val="lt2"/>
                </a:gs>
                <a:gs pos="100000">
                  <a:srgbClr val="EBE6E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2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362522" y="6498816"/>
            <a:ext cx="3466955" cy="17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contenidos">
  <p:cSld name="Dos contenido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lt2"/>
              </a:gs>
              <a:gs pos="60000">
                <a:schemeClr val="lt2"/>
              </a:gs>
              <a:gs pos="100000">
                <a:srgbClr val="F4F1F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550863" y="48831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11"/>
          <p:cNvGrpSpPr/>
          <p:nvPr/>
        </p:nvGrpSpPr>
        <p:grpSpPr>
          <a:xfrm>
            <a:off x="10346504" y="1833152"/>
            <a:ext cx="1656714" cy="1656714"/>
            <a:chOff x="10112258" y="2147095"/>
            <a:chExt cx="1656714" cy="1656714"/>
          </a:xfrm>
        </p:grpSpPr>
        <p:sp>
          <p:nvSpPr>
            <p:cNvPr id="73" name="Google Shape;73;p11"/>
            <p:cNvSpPr/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EBE6EC"/>
                </a:gs>
                <a:gs pos="30000">
                  <a:srgbClr val="EBE6EC"/>
                </a:gs>
                <a:gs pos="40000">
                  <a:srgbClr val="EDE9EE"/>
                </a:gs>
                <a:gs pos="60000">
                  <a:srgbClr val="EBE6EC"/>
                </a:gs>
                <a:gs pos="100000">
                  <a:schemeClr val="lt2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" name="Google Shape;74;p11"/>
            <p:cNvSpPr/>
            <p:nvPr/>
          </p:nvSpPr>
          <p:spPr>
            <a:xfrm rot="-81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EEEAEF">
                    <a:alpha val="32549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75" name="Google Shape;75;p11"/>
          <p:cNvSpPr/>
          <p:nvPr/>
        </p:nvSpPr>
        <p:spPr>
          <a:xfrm>
            <a:off x="4295775" y="0"/>
            <a:ext cx="360000" cy="27463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60000">
                <a:schemeClr val="lt2"/>
              </a:gs>
              <a:gs pos="100000">
                <a:srgbClr val="F4F1F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6" name="Google Shape;76;p11"/>
          <p:cNvGrpSpPr/>
          <p:nvPr/>
        </p:nvGrpSpPr>
        <p:grpSpPr>
          <a:xfrm>
            <a:off x="233344" y="5384019"/>
            <a:ext cx="828357" cy="828357"/>
            <a:chOff x="2895711" y="1234487"/>
            <a:chExt cx="828357" cy="828357"/>
          </a:xfrm>
        </p:grpSpPr>
        <p:sp>
          <p:nvSpPr>
            <p:cNvPr id="77" name="Google Shape;77;p11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EBE6EC"/>
                </a:gs>
                <a:gs pos="30000">
                  <a:srgbClr val="EBE6EC"/>
                </a:gs>
                <a:gs pos="40000">
                  <a:srgbClr val="EEEAEF"/>
                </a:gs>
                <a:gs pos="60000">
                  <a:srgbClr val="EBE6EC"/>
                </a:gs>
                <a:gs pos="100000">
                  <a:schemeClr val="lt2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" name="Google Shape;78;p11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50000">
                  <a:schemeClr val="lt2"/>
                </a:gs>
                <a:gs pos="100000">
                  <a:srgbClr val="EBE6E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550862" y="196509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2"/>
          </p:nvPr>
        </p:nvSpPr>
        <p:spPr>
          <a:xfrm>
            <a:off x="6301305" y="1965095"/>
            <a:ext cx="5339397" cy="39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4295775" y="6490420"/>
            <a:ext cx="3466955" cy="17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4362522" y="6498816"/>
            <a:ext cx="3466955" cy="17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88" name="Google Shape;88;p12"/>
          <p:cNvSpPr/>
          <p:nvPr/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 extrusionOk="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EBE6EC"/>
              </a:gs>
              <a:gs pos="30000">
                <a:srgbClr val="EBE6EC"/>
              </a:gs>
              <a:gs pos="40000">
                <a:srgbClr val="EEEAEF"/>
              </a:gs>
              <a:gs pos="60000">
                <a:srgbClr val="EBE6EC"/>
              </a:gs>
              <a:gs pos="100000">
                <a:schemeClr val="lt2"/>
              </a:gs>
            </a:gsLst>
            <a:lin ang="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12"/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chemeClr val="lt2"/>
              </a:gs>
              <a:gs pos="100000">
                <a:srgbClr val="EBE6E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>
            <a:gsLst>
              <a:gs pos="0">
                <a:schemeClr val="lt2"/>
              </a:gs>
              <a:gs pos="60000">
                <a:schemeClr val="lt2"/>
              </a:gs>
              <a:gs pos="100000">
                <a:srgbClr val="F4F1F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1" name="Google Shape;91;p12"/>
          <p:cNvGrpSpPr/>
          <p:nvPr/>
        </p:nvGrpSpPr>
        <p:grpSpPr>
          <a:xfrm>
            <a:off x="1292493" y="4299807"/>
            <a:ext cx="2083885" cy="2083885"/>
            <a:chOff x="4842143" y="3556857"/>
            <a:chExt cx="2083885" cy="2083885"/>
          </a:xfrm>
        </p:grpSpPr>
        <p:sp>
          <p:nvSpPr>
            <p:cNvPr id="92" name="Google Shape;92;p12"/>
            <p:cNvSpPr/>
            <p:nvPr/>
          </p:nvSpPr>
          <p:spPr>
            <a:xfrm rot="8100000" flipH="1">
              <a:off x="5005634" y="4191206"/>
              <a:ext cx="1853969" cy="926985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3" name="Google Shape;93;p12"/>
            <p:cNvSpPr/>
            <p:nvPr/>
          </p:nvSpPr>
          <p:spPr>
            <a:xfrm rot="8100000" flipH="1">
              <a:off x="4957101" y="4052255"/>
              <a:ext cx="1853969" cy="1093090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F4F1F4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4" name="Google Shape;94;p12"/>
            <p:cNvSpPr/>
            <p:nvPr/>
          </p:nvSpPr>
          <p:spPr>
            <a:xfrm rot="2700000" flipH="1">
              <a:off x="6040374" y="3601683"/>
              <a:ext cx="107098" cy="466589"/>
            </a:xfrm>
            <a:prstGeom prst="ellipse">
              <a:avLst/>
            </a:prstGeom>
            <a:solidFill>
              <a:srgbClr val="EBE6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5" name="Google Shape;95;p12"/>
            <p:cNvSpPr/>
            <p:nvPr/>
          </p:nvSpPr>
          <p:spPr>
            <a:xfrm rot="2700000" flipH="1">
              <a:off x="5059348" y="4582709"/>
              <a:ext cx="107098" cy="466589"/>
            </a:xfrm>
            <a:prstGeom prst="ellipse">
              <a:avLst/>
            </a:prstGeom>
            <a:solidFill>
              <a:srgbClr val="EBE6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810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4362522" y="6498816"/>
            <a:ext cx="3466955" cy="17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347">
          <p15:clr>
            <a:srgbClr val="F26B43"/>
          </p15:clr>
        </p15:guide>
        <p15:guide id="4" pos="7333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pos="824">
          <p15:clr>
            <a:srgbClr val="A4A3A4"/>
          </p15:clr>
        </p15:guide>
        <p15:guide id="8" pos="937">
          <p15:clr>
            <a:srgbClr val="A4A3A4"/>
          </p15:clr>
        </p15:guide>
        <p15:guide id="9" pos="1413">
          <p15:clr>
            <a:srgbClr val="A4A3A4"/>
          </p15:clr>
        </p15:guide>
        <p15:guide id="10" pos="1527">
          <p15:clr>
            <a:srgbClr val="A4A3A4"/>
          </p15:clr>
        </p15:guide>
        <p15:guide id="11" pos="2003">
          <p15:clr>
            <a:srgbClr val="A4A3A4"/>
          </p15:clr>
        </p15:guide>
        <p15:guide id="12" pos="2116">
          <p15:clr>
            <a:srgbClr val="A4A3A4"/>
          </p15:clr>
        </p15:guide>
        <p15:guide id="13" pos="2593">
          <p15:clr>
            <a:srgbClr val="A4A3A4"/>
          </p15:clr>
        </p15:guide>
        <p15:guide id="14" pos="2706">
          <p15:clr>
            <a:srgbClr val="A4A3A4"/>
          </p15:clr>
        </p15:guide>
        <p15:guide id="15" pos="3182">
          <p15:clr>
            <a:srgbClr val="A4A3A4"/>
          </p15:clr>
        </p15:guide>
        <p15:guide id="16" pos="3318">
          <p15:clr>
            <a:srgbClr val="A4A3A4"/>
          </p15:clr>
        </p15:guide>
        <p15:guide id="17" pos="3772">
          <p15:clr>
            <a:srgbClr val="A4A3A4"/>
          </p15:clr>
        </p15:guide>
        <p15:guide id="18" pos="3908">
          <p15:clr>
            <a:srgbClr val="A4A3A4"/>
          </p15:clr>
        </p15:guide>
        <p15:guide id="19" pos="4362">
          <p15:clr>
            <a:srgbClr val="A4A3A4"/>
          </p15:clr>
        </p15:guide>
        <p15:guide id="20" pos="4498">
          <p15:clr>
            <a:srgbClr val="A4A3A4"/>
          </p15:clr>
        </p15:guide>
        <p15:guide id="21" pos="4951">
          <p15:clr>
            <a:srgbClr val="A4A3A4"/>
          </p15:clr>
        </p15:guide>
        <p15:guide id="22" pos="5087">
          <p15:clr>
            <a:srgbClr val="A4A3A4"/>
          </p15:clr>
        </p15:guide>
        <p15:guide id="23" pos="5541">
          <p15:clr>
            <a:srgbClr val="A4A3A4"/>
          </p15:clr>
        </p15:guide>
        <p15:guide id="24" pos="5677">
          <p15:clr>
            <a:srgbClr val="A4A3A4"/>
          </p15:clr>
        </p15:guide>
        <p15:guide id="25" pos="6153">
          <p15:clr>
            <a:srgbClr val="A4A3A4"/>
          </p15:clr>
        </p15:guide>
        <p15:guide id="26" pos="6267">
          <p15:clr>
            <a:srgbClr val="A4A3A4"/>
          </p15:clr>
        </p15:guide>
        <p15:guide id="27" pos="6743">
          <p15:clr>
            <a:srgbClr val="A4A3A4"/>
          </p15:clr>
        </p15:guide>
        <p15:guide id="28" pos="6856">
          <p15:clr>
            <a:srgbClr val="A4A3A4"/>
          </p15:clr>
        </p15:guide>
        <p15:guide id="29" orient="horz" pos="3838">
          <p15:clr>
            <a:srgbClr val="A4A3A4"/>
          </p15:clr>
        </p15:guide>
        <p15:guide id="30" orient="horz" pos="2092">
          <p15:clr>
            <a:srgbClr val="A4A3A4"/>
          </p15:clr>
        </p15:guide>
        <p15:guide id="31" orient="horz" pos="2228">
          <p15:clr>
            <a:srgbClr val="A4A3A4"/>
          </p15:clr>
        </p15:guide>
        <p15:guide id="32" orient="horz" pos="845">
          <p15:clr>
            <a:srgbClr val="A4A3A4"/>
          </p15:clr>
        </p15:guide>
        <p15:guide id="33" orient="horz" pos="958">
          <p15:clr>
            <a:srgbClr val="A4A3A4"/>
          </p15:clr>
        </p15:guide>
        <p15:guide id="34" orient="horz" pos="1480">
          <p15:clr>
            <a:srgbClr val="A4A3A4"/>
          </p15:clr>
        </p15:guide>
        <p15:guide id="35" orient="horz" pos="1593">
          <p15:clr>
            <a:srgbClr val="A4A3A4"/>
          </p15:clr>
        </p15:guide>
        <p15:guide id="36" orient="horz" pos="2727">
          <p15:clr>
            <a:srgbClr val="A4A3A4"/>
          </p15:clr>
        </p15:guide>
        <p15:guide id="37" orient="horz" pos="2840">
          <p15:clr>
            <a:srgbClr val="A4A3A4"/>
          </p15:clr>
        </p15:guide>
        <p15:guide id="38" orient="horz" pos="3339">
          <p15:clr>
            <a:srgbClr val="A4A3A4"/>
          </p15:clr>
        </p15:guide>
        <p15:guide id="39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216724" y="420175"/>
            <a:ext cx="7413300" cy="3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419"/>
              <a:t>Lectura 1.2: Entrenamiento de modelos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433425" y="111325"/>
            <a:ext cx="11376600" cy="23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ill Sans"/>
              <a:buNone/>
            </a:pPr>
            <a:r>
              <a:rPr lang="es-419"/>
              <a:t>Outline</a:t>
            </a:r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419"/>
              <a:t>2</a:t>
            </a:fld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1"/>
          </p:nvPr>
        </p:nvSpPr>
        <p:spPr>
          <a:xfrm>
            <a:off x="433425" y="278438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7837"/>
              <a:buChar char="●"/>
            </a:pPr>
            <a:r>
              <a:rPr lang="es-419"/>
              <a:t>Entrenamiento vs. optimización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ct val="77837"/>
              <a:buChar char="●"/>
            </a:pPr>
            <a:r>
              <a:rPr lang="es-419"/>
              <a:t>Inconvenientes principales y estrategias para sortearlos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ct val="77837"/>
              <a:buChar char="●"/>
            </a:pPr>
            <a:r>
              <a:rPr lang="es-419"/>
              <a:t>Optimizadores de primer y segundo orden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ct val="77837"/>
              <a:buChar char="●"/>
            </a:pPr>
            <a:r>
              <a:rPr lang="es-419"/>
              <a:t>Learning rate scheduling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SzPct val="77837"/>
              <a:buChar char="●"/>
            </a:pPr>
            <a:r>
              <a:rPr lang="es-419"/>
              <a:t>Regularización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419"/>
              <a:t>3</a:t>
            </a:fld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25" cy="47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s-419" sz="3200"/>
              <a:t>Entrenamiento vs. optimización</a:t>
            </a:r>
            <a:endParaRPr/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0225" y="3936376"/>
            <a:ext cx="4762500" cy="733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5"/>
          <p:cNvCxnSpPr/>
          <p:nvPr/>
        </p:nvCxnSpPr>
        <p:spPr>
          <a:xfrm rot="10800000">
            <a:off x="6738934" y="4515455"/>
            <a:ext cx="342300" cy="503700"/>
          </a:xfrm>
          <a:prstGeom prst="straightConnector1">
            <a:avLst/>
          </a:prstGeom>
          <a:noFill/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7" name="Google Shape;117;p15"/>
          <p:cNvSpPr txBox="1"/>
          <p:nvPr/>
        </p:nvSpPr>
        <p:spPr>
          <a:xfrm>
            <a:off x="7081234" y="5019155"/>
            <a:ext cx="22695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Función de pérdida por muestra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18" name="Google Shape;118;p15"/>
          <p:cNvCxnSpPr/>
          <p:nvPr/>
        </p:nvCxnSpPr>
        <p:spPr>
          <a:xfrm rot="10800000" flipH="1">
            <a:off x="5828034" y="4587280"/>
            <a:ext cx="342300" cy="503700"/>
          </a:xfrm>
          <a:prstGeom prst="straightConnector1">
            <a:avLst/>
          </a:prstGeom>
          <a:noFill/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" name="Google Shape;119;p15"/>
          <p:cNvSpPr txBox="1"/>
          <p:nvPr/>
        </p:nvSpPr>
        <p:spPr>
          <a:xfrm>
            <a:off x="4422184" y="5090980"/>
            <a:ext cx="14061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Distribución empírica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2625384" y="4696380"/>
            <a:ext cx="11637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Riesgo empírico</a:t>
            </a: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21" name="Google Shape;121;p15"/>
          <p:cNvCxnSpPr/>
          <p:nvPr/>
        </p:nvCxnSpPr>
        <p:spPr>
          <a:xfrm rot="10800000" flipH="1">
            <a:off x="3562784" y="4549180"/>
            <a:ext cx="550500" cy="417600"/>
          </a:xfrm>
          <a:prstGeom prst="straightConnector1">
            <a:avLst/>
          </a:prstGeom>
          <a:noFill/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22" name="Google Shape;12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775" y="968374"/>
            <a:ext cx="1036320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body" idx="2"/>
          </p:nvPr>
        </p:nvSpPr>
        <p:spPr>
          <a:xfrm>
            <a:off x="192772" y="98733"/>
            <a:ext cx="10804525" cy="59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s-419" sz="3200"/>
              <a:t>Entrenamiento vs. optimización</a:t>
            </a:r>
            <a:endParaRPr/>
          </a:p>
          <a:p>
            <a:pPr marL="4572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419"/>
              <a:t>4</a:t>
            </a:fld>
            <a:endParaRPr/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7622" y="2470440"/>
            <a:ext cx="4705350" cy="638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16"/>
          <p:cNvCxnSpPr/>
          <p:nvPr/>
        </p:nvCxnSpPr>
        <p:spPr>
          <a:xfrm rot="10800000">
            <a:off x="5841397" y="3009515"/>
            <a:ext cx="342300" cy="503700"/>
          </a:xfrm>
          <a:prstGeom prst="straightConnector1">
            <a:avLst/>
          </a:prstGeom>
          <a:noFill/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6"/>
          <p:cNvSpPr txBox="1"/>
          <p:nvPr/>
        </p:nvSpPr>
        <p:spPr>
          <a:xfrm>
            <a:off x="5276646" y="3437015"/>
            <a:ext cx="47052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419" sz="2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Distribución generadora (¡desconocida!)</a:t>
            </a:r>
            <a:endParaRPr sz="21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2129747" y="3307415"/>
            <a:ext cx="2250600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419" sz="2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Error de generalización esperado (riesgo)</a:t>
            </a:r>
            <a:endParaRPr sz="21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33" name="Google Shape;133;p16"/>
          <p:cNvCxnSpPr/>
          <p:nvPr/>
        </p:nvCxnSpPr>
        <p:spPr>
          <a:xfrm rot="10800000" flipH="1">
            <a:off x="3190797" y="3009515"/>
            <a:ext cx="342300" cy="503700"/>
          </a:xfrm>
          <a:prstGeom prst="straightConnector1">
            <a:avLst/>
          </a:prstGeom>
          <a:noFill/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4" name="Google Shape;134;p16"/>
          <p:cNvCxnSpPr/>
          <p:nvPr/>
        </p:nvCxnSpPr>
        <p:spPr>
          <a:xfrm flipH="1">
            <a:off x="7420597" y="3864515"/>
            <a:ext cx="4800" cy="361500"/>
          </a:xfrm>
          <a:prstGeom prst="straightConnector1">
            <a:avLst/>
          </a:prstGeom>
          <a:noFill/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" name="Google Shape;135;p16"/>
          <p:cNvSpPr txBox="1"/>
          <p:nvPr/>
        </p:nvSpPr>
        <p:spPr>
          <a:xfrm>
            <a:off x="5070246" y="4226015"/>
            <a:ext cx="56343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419" sz="21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 se conociera, aprendizaje = optimización</a:t>
            </a:r>
            <a:endParaRPr sz="2100" b="1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775" y="1052440"/>
            <a:ext cx="11420475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>
            <a:spLocks noGrp="1"/>
          </p:cNvSpPr>
          <p:nvPr>
            <p:ph type="body" idx="2"/>
          </p:nvPr>
        </p:nvSpPr>
        <p:spPr>
          <a:xfrm>
            <a:off x="192783" y="178240"/>
            <a:ext cx="108045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s-419" sz="3200"/>
              <a:t>Entrenamiento vs. optimización</a:t>
            </a:r>
            <a:endParaRPr/>
          </a:p>
          <a:p>
            <a:pPr marL="4572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419"/>
              <a:t>5</a:t>
            </a:fld>
            <a:endParaRPr/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3134" y="1767728"/>
            <a:ext cx="7543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279397" y="3379395"/>
            <a:ext cx="10454064" cy="16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Arial"/>
              <a:buChar char="•"/>
            </a:pPr>
            <a:r>
              <a:rPr lang="es-419" sz="21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 minimización del riesgo empírico tiende al overfitting (aprender de memoria el conjunto de entrenamiento)</a:t>
            </a:r>
            <a:endParaRPr sz="2100" b="1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Arial"/>
              <a:buChar char="•"/>
            </a:pPr>
            <a:r>
              <a:rPr lang="es-419" sz="21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 minimización se lleva a cabo mediante algoritmos basados en gradiente</a:t>
            </a:r>
            <a:endParaRPr sz="2100" b="1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Arial"/>
              <a:buChar char="•"/>
            </a:pPr>
            <a:r>
              <a:rPr lang="es-419" sz="21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Aparece el concepto de Early Stopping</a:t>
            </a:r>
            <a:endParaRPr sz="2100" b="1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>
            <a:spLocks noGrp="1"/>
          </p:cNvSpPr>
          <p:nvPr>
            <p:ph type="body" idx="2"/>
          </p:nvPr>
        </p:nvSpPr>
        <p:spPr>
          <a:xfrm>
            <a:off x="197866" y="165242"/>
            <a:ext cx="10804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s-419" sz="3200"/>
              <a:t>Descomposición del error</a:t>
            </a:r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419"/>
              <a:t>6</a:t>
            </a:fld>
            <a:endParaRPr/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/>
          </a:blip>
          <a:srcRect l="31142" r="4738" b="90714"/>
          <a:stretch/>
        </p:blipFill>
        <p:spPr>
          <a:xfrm>
            <a:off x="3131668" y="1355725"/>
            <a:ext cx="5953287" cy="67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650" y="2393474"/>
            <a:ext cx="9237750" cy="31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>
            <a:spLocks noGrp="1"/>
          </p:cNvSpPr>
          <p:nvPr>
            <p:ph type="title"/>
          </p:nvPr>
        </p:nvSpPr>
        <p:spPr>
          <a:xfrm>
            <a:off x="937075" y="1628750"/>
            <a:ext cx="37833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</a:pPr>
            <a:r>
              <a:rPr lang="es-419" sz="4100"/>
              <a:t>Características principales de los algoritmos</a:t>
            </a:r>
            <a:endParaRPr sz="4100"/>
          </a:p>
        </p:txBody>
      </p:sp>
      <p:sp>
        <p:nvSpPr>
          <p:cNvPr id="158" name="Google Shape;158;p19"/>
          <p:cNvSpPr txBox="1">
            <a:spLocks noGrp="1"/>
          </p:cNvSpPr>
          <p:nvPr>
            <p:ph type="sldNum" idx="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7</a:t>
            </a:fld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419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25" cy="47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Puntos estacionarios</a:t>
            </a:r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l="28689" t="9264" r="25073" b="81408"/>
          <a:stretch/>
        </p:blipFill>
        <p:spPr>
          <a:xfrm>
            <a:off x="2952688" y="1105775"/>
            <a:ext cx="4197484" cy="4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l="2249" t="23768" r="36291" b="66453"/>
          <a:stretch/>
        </p:blipFill>
        <p:spPr>
          <a:xfrm>
            <a:off x="3094588" y="1884800"/>
            <a:ext cx="5762268" cy="51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192775" y="2610000"/>
            <a:ext cx="8648700" cy="22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ill Sans"/>
              <a:buChar char="●"/>
            </a:pPr>
            <a:r>
              <a:rPr lang="es-419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 método basado en gradiente es un método de búsqueda local ávida (“greedy”), capaz de evitar la maldición de la dimensionalidad (CoD)</a:t>
            </a:r>
            <a:endParaRPr sz="2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ill Sans"/>
              <a:buChar char="●"/>
            </a:pPr>
            <a:r>
              <a:rPr lang="es-419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 paso del algoritmo decrece la función de pérdida             si </a:t>
            </a:r>
            <a:endParaRPr sz="2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100"/>
              <a:buFont typeface="Gill Sans"/>
              <a:buChar char="●"/>
            </a:pPr>
            <a:r>
              <a:rPr lang="es-419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Converge a un punto estacionario bajo ciertas condiciones (si no diverge y si \eta\neq 0)</a:t>
            </a:r>
            <a:endParaRPr sz="2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04000" y="1884800"/>
            <a:ext cx="2861700" cy="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Expansión de Taylor: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l="5418" t="41816" r="79498" b="50450"/>
          <a:stretch/>
        </p:blipFill>
        <p:spPr>
          <a:xfrm>
            <a:off x="7696925" y="3457850"/>
            <a:ext cx="1379149" cy="39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2043" y="3457854"/>
            <a:ext cx="95365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Tipos de puntos estacionarios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l="21257" t="17428" r="17516" b="31370"/>
          <a:stretch/>
        </p:blipFill>
        <p:spPr>
          <a:xfrm>
            <a:off x="445162" y="1010337"/>
            <a:ext cx="11085773" cy="462142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395000" y="4202850"/>
            <a:ext cx="3522300" cy="20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424242"/>
                </a:solidFill>
                <a:latin typeface="Gill Sans"/>
                <a:ea typeface="Gill Sans"/>
                <a:cs typeface="Gill Sans"/>
                <a:sym typeface="Gill Sans"/>
              </a:rPr>
              <a:t>Plano xy: espacio de búsqueda para optimización</a:t>
            </a:r>
            <a:endParaRPr sz="2300">
              <a:solidFill>
                <a:srgbClr val="42424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42424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424242"/>
                </a:solidFill>
                <a:latin typeface="Gill Sans"/>
                <a:ea typeface="Gill Sans"/>
                <a:cs typeface="Gill Sans"/>
                <a:sym typeface="Gill Sans"/>
              </a:rPr>
              <a:t>Eje z: valor de la función objetivo a minimizar</a:t>
            </a:r>
            <a:endParaRPr sz="2300">
              <a:solidFill>
                <a:srgbClr val="42424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title"/>
          </p:nvPr>
        </p:nvSpPr>
        <p:spPr>
          <a:xfrm>
            <a:off x="585350" y="171825"/>
            <a:ext cx="3315600" cy="17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600"/>
              <a:t>¿Se pueden evitar mínimos locales “malos” en NN?</a:t>
            </a:r>
            <a:endParaRPr sz="36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</a:pPr>
            <a:endParaRPr sz="3600"/>
          </a:p>
        </p:txBody>
      </p:sp>
      <p:sp>
        <p:nvSpPr>
          <p:cNvPr id="187" name="Google Shape;187;p22"/>
          <p:cNvSpPr txBox="1">
            <a:spLocks noGrp="1"/>
          </p:cNvSpPr>
          <p:nvPr>
            <p:ph type="title"/>
          </p:nvPr>
        </p:nvSpPr>
        <p:spPr>
          <a:xfrm>
            <a:off x="766325" y="2944550"/>
            <a:ext cx="3315600" cy="18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/>
              <a:t>La respuesta es… SI!!!</a:t>
            </a:r>
            <a:endParaRPr sz="4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</a:pPr>
            <a:endParaRPr sz="4800"/>
          </a:p>
        </p:txBody>
      </p:sp>
      <p:sp>
        <p:nvSpPr>
          <p:cNvPr id="188" name="Google Shape;188;p22"/>
          <p:cNvSpPr txBox="1"/>
          <p:nvPr/>
        </p:nvSpPr>
        <p:spPr>
          <a:xfrm>
            <a:off x="5396350" y="338625"/>
            <a:ext cx="6244800" cy="54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Publicaciones (últimos 5 años):</a:t>
            </a:r>
            <a:endParaRPr sz="2300"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Deep Learning without Poor Local Minima [NeurIPS 2016: Kenji Kawaguchi]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Elimination of All Bad Local Minima in Deep Learning [AISTATS 2020: Kenji Kawaguchi, Leslie Kaelbling]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Depth Learning with Nonlinearity Creates No Bad Local Minima in ResNets [NN 2020: Kenji Kawaguchi and Yoshua Bengio]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s-419" sz="2300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¿Qué pasa con los puntos silla?</a:t>
            </a:r>
            <a:endParaRPr sz="2300">
              <a:solidFill>
                <a:schemeClr val="accent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Tipos de puntos silla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11</a:t>
            </a:fld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2682" y="1526727"/>
            <a:ext cx="4526455" cy="2992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9570" y="1526727"/>
            <a:ext cx="3813112" cy="29920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23"/>
          <p:cNvCxnSpPr>
            <a:endCxn id="199" idx="2"/>
          </p:cNvCxnSpPr>
          <p:nvPr/>
        </p:nvCxnSpPr>
        <p:spPr>
          <a:xfrm rot="10800000">
            <a:off x="3709669" y="1543952"/>
            <a:ext cx="152700" cy="1374000"/>
          </a:xfrm>
          <a:prstGeom prst="straightConnector1">
            <a:avLst/>
          </a:prstGeom>
          <a:noFill/>
          <a:ln w="9525" cap="flat" cmpd="sng">
            <a:solidFill>
              <a:srgbClr val="42424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3"/>
          <p:cNvCxnSpPr>
            <a:endCxn id="201" idx="2"/>
          </p:cNvCxnSpPr>
          <p:nvPr/>
        </p:nvCxnSpPr>
        <p:spPr>
          <a:xfrm rot="10800000" flipH="1">
            <a:off x="8137313" y="1543952"/>
            <a:ext cx="683700" cy="1358100"/>
          </a:xfrm>
          <a:prstGeom prst="straightConnector1">
            <a:avLst/>
          </a:prstGeom>
          <a:noFill/>
          <a:ln w="9525" cap="flat" cmpd="sng">
            <a:solidFill>
              <a:srgbClr val="42424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3"/>
          <p:cNvSpPr txBox="1"/>
          <p:nvPr/>
        </p:nvSpPr>
        <p:spPr>
          <a:xfrm>
            <a:off x="2258269" y="1079552"/>
            <a:ext cx="2902800" cy="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degenerado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7369613" y="1079552"/>
            <a:ext cx="2902800" cy="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Degenerado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966438" y="4717214"/>
            <a:ext cx="10259100" cy="15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 b="1">
                <a:solidFill>
                  <a:srgbClr val="424242"/>
                </a:solidFill>
                <a:latin typeface="Gill Sans"/>
                <a:ea typeface="Gill Sans"/>
                <a:cs typeface="Gill Sans"/>
                <a:sym typeface="Gill Sans"/>
              </a:rPr>
              <a:t>No degenerado: </a:t>
            </a:r>
            <a:r>
              <a:rPr lang="es-419" sz="2100">
                <a:solidFill>
                  <a:srgbClr val="424242"/>
                </a:solidFill>
                <a:latin typeface="Gill Sans"/>
                <a:ea typeface="Gill Sans"/>
                <a:cs typeface="Gill Sans"/>
                <a:sym typeface="Gill Sans"/>
              </a:rPr>
              <a:t>Hessiano positivo definido con autovalores     0 y signos opuestos.</a:t>
            </a:r>
            <a:endParaRPr sz="2100">
              <a:solidFill>
                <a:srgbClr val="42424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 b="1">
                <a:solidFill>
                  <a:srgbClr val="424242"/>
                </a:solidFill>
                <a:latin typeface="Gill Sans"/>
                <a:ea typeface="Gill Sans"/>
                <a:cs typeface="Gill Sans"/>
                <a:sym typeface="Gill Sans"/>
              </a:rPr>
              <a:t>Degenerado:</a:t>
            </a:r>
            <a:r>
              <a:rPr lang="es-419" sz="2100">
                <a:solidFill>
                  <a:srgbClr val="424242"/>
                </a:solidFill>
                <a:latin typeface="Gill Sans"/>
                <a:ea typeface="Gill Sans"/>
                <a:cs typeface="Gill Sans"/>
                <a:sym typeface="Gill Sans"/>
              </a:rPr>
              <a:t> Hessiano positivo semidefinido con autovalores todos 0.</a:t>
            </a:r>
            <a:endParaRPr sz="2100">
              <a:solidFill>
                <a:srgbClr val="42424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rgbClr val="424242"/>
                </a:solidFill>
                <a:latin typeface="Gill Sans"/>
                <a:ea typeface="Gill Sans"/>
                <a:cs typeface="Gill Sans"/>
                <a:sym typeface="Gill Sans"/>
              </a:rPr>
              <a:t>Es más difícil escapar de un punto silla degenerado, ya que la información de segundo orden no es suficiente. </a:t>
            </a:r>
            <a:endParaRPr sz="2100">
              <a:solidFill>
                <a:srgbClr val="42424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3" name="Google Shape;20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3879" y="4810597"/>
            <a:ext cx="353450" cy="326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12</a:t>
            </a:fld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387675" y="197850"/>
            <a:ext cx="3908100" cy="2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¿Se pueden evitar mínimos locales “malos” y puntos silla en NN?</a:t>
            </a:r>
            <a:endParaRPr sz="36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321075" y="3321050"/>
            <a:ext cx="4041300" cy="18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/>
              <a:t>La respuesta es también… SI!!!</a:t>
            </a:r>
            <a:endParaRPr sz="4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</a:pPr>
            <a:endParaRPr sz="4800"/>
          </a:p>
        </p:txBody>
      </p:sp>
      <p:sp>
        <p:nvSpPr>
          <p:cNvPr id="212" name="Google Shape;212;p24"/>
          <p:cNvSpPr txBox="1"/>
          <p:nvPr/>
        </p:nvSpPr>
        <p:spPr>
          <a:xfrm>
            <a:off x="5525600" y="219050"/>
            <a:ext cx="5358300" cy="38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Publicaciones relacionadas:</a:t>
            </a:r>
            <a:endParaRPr sz="2300"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Allerton 2019: Kenji Kawaguchi and Jiaoyang Huang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ICLR 2021: Kenji Kawaguchi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ICML 2021: Keyulu Xu, Mozhi Zhang, Stefanie Jegelka, Kenji Kawaguchi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AAAI 2021: Kenji Kawaguchi and Qingyun Sun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Gradient descent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5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13</a:t>
            </a:fld>
            <a:endParaRPr/>
          </a:p>
        </p:txBody>
      </p:sp>
      <p:pic>
        <p:nvPicPr>
          <p:cNvPr id="220" name="Google Shape;2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979" y="935400"/>
            <a:ext cx="3067110" cy="63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979" y="1763140"/>
            <a:ext cx="3737821" cy="403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700" y="2336729"/>
            <a:ext cx="4845361" cy="4059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4584" y="1033508"/>
            <a:ext cx="5526713" cy="4856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000"/>
              <a:t>Gradient descent (GD) vs. Stochastic gradient descent (SGD)</a:t>
            </a:r>
            <a:endParaRPr sz="3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230" name="Google Shape;230;p26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14</a:t>
            </a:fld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192775" y="1053975"/>
            <a:ext cx="11503200" cy="3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Full GD realiza el cómputo del gradiente sobre todo el dataset. SGD lo realiza una instancia a la vez.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Dichas instancias deben ser i.i.d. para asegurar convergencia al mínimo global: deben elegirse de manera aleatoria (o hacer “shuffle”)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 aleatoriedad puede ayudar a escapar de mínimos locales malos en funciones muy irregulares o no convexas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Como contra, la aleatoriedad hace que SGD no pueda converger totalmente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Soluciones efectivas: introducir un decaimiento del learning rate, y/o realizar entrenamiento en mini-batch → Buena performance en arquitectura de GPUs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Influencia del learning rate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15</a:t>
            </a:fld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10915709" y="5851004"/>
            <a:ext cx="68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15</a:t>
            </a:fld>
            <a:endParaRPr sz="1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0" name="Google Shape;2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25" y="992725"/>
            <a:ext cx="3383020" cy="360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1637" y="992725"/>
            <a:ext cx="3391103" cy="360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4033" y="1094840"/>
            <a:ext cx="4629342" cy="33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7"/>
          <p:cNvSpPr txBox="1"/>
          <p:nvPr/>
        </p:nvSpPr>
        <p:spPr>
          <a:xfrm>
            <a:off x="789850" y="4610431"/>
            <a:ext cx="2580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 muy pequeño</a:t>
            </a:r>
            <a:endParaRPr sz="22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4176920" y="4610431"/>
            <a:ext cx="2580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 u="sng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 muy elevado</a:t>
            </a:r>
            <a:endParaRPr sz="2200" u="sng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7684825" y="4471601"/>
            <a:ext cx="40236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 asociado al aprendizaje de la función seno usando datos con ruido, mediante NN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497389" y="5566727"/>
            <a:ext cx="111972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Una estrategia efectiva es utilizar learning adaptativo/variable (más adelante…</a:t>
            </a: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Underfitting y overfitting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8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16</a:t>
            </a:fld>
            <a:endParaRPr/>
          </a:p>
        </p:txBody>
      </p:sp>
      <p:pic>
        <p:nvPicPr>
          <p:cNvPr id="254" name="Google Shape;2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075" y="817325"/>
            <a:ext cx="7277299" cy="546309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 txBox="1"/>
          <p:nvPr/>
        </p:nvSpPr>
        <p:spPr>
          <a:xfrm>
            <a:off x="192775" y="1049771"/>
            <a:ext cx="4161300" cy="21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Modelos de baja capacidad vs. modelos de alta capacidad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Evaluar el gap entre los errores de entrenamiento y validación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Vanishing y exploding gradients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9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17</a:t>
            </a:fld>
            <a:endParaRPr/>
          </a:p>
        </p:txBody>
      </p:sp>
      <p:pic>
        <p:nvPicPr>
          <p:cNvPr id="263" name="Google Shape;263;p29"/>
          <p:cNvPicPr preferRelativeResize="0"/>
          <p:nvPr/>
        </p:nvPicPr>
        <p:blipFill rotWithShape="1">
          <a:blip r:embed="rId3">
            <a:alphaModFix/>
          </a:blip>
          <a:srcRect t="7415"/>
          <a:stretch/>
        </p:blipFill>
        <p:spPr>
          <a:xfrm>
            <a:off x="362507" y="2206564"/>
            <a:ext cx="4465450" cy="3075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785" y="2405194"/>
            <a:ext cx="6980664" cy="243148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 txBox="1"/>
          <p:nvPr/>
        </p:nvSpPr>
        <p:spPr>
          <a:xfrm>
            <a:off x="362475" y="1542661"/>
            <a:ext cx="4465500" cy="6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Ej: vanishing gradients</a:t>
            </a:r>
            <a:endParaRPr sz="2000" b="1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4848817" y="1542661"/>
            <a:ext cx="6980700" cy="8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Ej: exploding gradients. Multiplicar 100 matrices random (Gaussianas)</a:t>
            </a:r>
            <a:endParaRPr sz="2000" b="1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98225" y="5502336"/>
            <a:ext cx="112785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2010: paper de Xavier Glorot &amp; Youshua Bengio  “Understanding the difficulty of training Deep neural nerworks”, Proc 13th Int. Conf. on AI and Statistics pp. 249-256</a:t>
            </a:r>
            <a:endParaRPr sz="20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148985" y="732525"/>
            <a:ext cx="11278500" cy="8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Diferentes capas de una red aprenden a tasas muy diferentes entre sí. En general las primeras capas son las que sufren estos problemas</a:t>
            </a:r>
            <a:endParaRPr sz="20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Inicializaciones de los pesos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0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18</a:t>
            </a:fld>
            <a:endParaRPr/>
          </a:p>
        </p:txBody>
      </p:sp>
      <p:sp>
        <p:nvSpPr>
          <p:cNvPr id="276" name="Google Shape;276;p30"/>
          <p:cNvSpPr txBox="1"/>
          <p:nvPr/>
        </p:nvSpPr>
        <p:spPr>
          <a:xfrm>
            <a:off x="10886488" y="5854644"/>
            <a:ext cx="7035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18</a:t>
            </a:fld>
            <a:endParaRPr sz="1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63" y="4329126"/>
            <a:ext cx="11334272" cy="164341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/>
          <p:nvPr/>
        </p:nvSpPr>
        <p:spPr>
          <a:xfrm>
            <a:off x="168525" y="826525"/>
            <a:ext cx="11318100" cy="3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s-419" sz="19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Idea:</a:t>
            </a:r>
            <a:r>
              <a:rPr lang="es-419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varianza de las salidas de cada capa = varianza de las entradas de tal capa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s-419" sz="19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Objetivo:</a:t>
            </a:r>
            <a:r>
              <a:rPr lang="es-419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evitar vanishing y exploding gradients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ill Sans"/>
              <a:buChar char="●"/>
            </a:pPr>
            <a:r>
              <a:rPr lang="es-419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Inicialización Xavier (o Glorot):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ill Sans"/>
              <a:buChar char="●"/>
            </a:pPr>
            <a:r>
              <a:rPr lang="es-419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Inicialización de He: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79" name="Google Shape;2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8729" y="1765451"/>
            <a:ext cx="2837703" cy="116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9972" y="3531198"/>
            <a:ext cx="1799125" cy="58710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 txBox="1"/>
          <p:nvPr/>
        </p:nvSpPr>
        <p:spPr>
          <a:xfrm>
            <a:off x="8075613" y="1943290"/>
            <a:ext cx="3207900" cy="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fan: número de unidades en entrada y salida</a:t>
            </a:r>
            <a:endParaRPr sz="17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Normalización de los datos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1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19</a:t>
            </a:fld>
            <a:endParaRPr/>
          </a:p>
        </p:txBody>
      </p:sp>
      <p:pic>
        <p:nvPicPr>
          <p:cNvPr id="289" name="Google Shape;2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850" y="1791191"/>
            <a:ext cx="9294175" cy="442975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1"/>
          <p:cNvSpPr txBox="1"/>
          <p:nvPr/>
        </p:nvSpPr>
        <p:spPr>
          <a:xfrm>
            <a:off x="616850" y="894875"/>
            <a:ext cx="4115400" cy="8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Normalización min-max 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Normalización z-score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Normalización de los datos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2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20</a:t>
            </a:fld>
            <a:endParaRPr/>
          </a:p>
        </p:txBody>
      </p:sp>
      <p:pic>
        <p:nvPicPr>
          <p:cNvPr id="298" name="Google Shape;2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50" y="951495"/>
            <a:ext cx="10804500" cy="5449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Batch normalization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3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21</a:t>
            </a:fld>
            <a:endParaRPr/>
          </a:p>
        </p:txBody>
      </p:sp>
      <p:pic>
        <p:nvPicPr>
          <p:cNvPr id="306" name="Google Shape;30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00" y="820288"/>
            <a:ext cx="5764503" cy="551284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3"/>
          <p:cNvSpPr txBox="1"/>
          <p:nvPr/>
        </p:nvSpPr>
        <p:spPr>
          <a:xfrm>
            <a:off x="6504600" y="1015042"/>
            <a:ext cx="50802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y_i: transformación afín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Mejora convergencia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Mejora el flujo del gradiente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Evita vanishing/exploding grads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Permite lr mayores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Reduce dependencia de la inicialización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Actúa como estrategia de regularización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Batch normalization</a:t>
            </a:r>
            <a:endParaRPr/>
          </a:p>
        </p:txBody>
      </p:sp>
      <p:sp>
        <p:nvSpPr>
          <p:cNvPr id="314" name="Google Shape;314;p34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22</a:t>
            </a:fld>
            <a:endParaRPr/>
          </a:p>
        </p:txBody>
      </p:sp>
      <p:pic>
        <p:nvPicPr>
          <p:cNvPr id="315" name="Google Shape;3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613" y="983138"/>
            <a:ext cx="11488773" cy="4891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Batch normalization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5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23</a:t>
            </a:fld>
            <a:endParaRPr/>
          </a:p>
        </p:txBody>
      </p:sp>
      <p:pic>
        <p:nvPicPr>
          <p:cNvPr id="323" name="Google Shape;3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50" y="946950"/>
            <a:ext cx="10804500" cy="548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"/>
          <p:cNvSpPr txBox="1">
            <a:spLocks noGrp="1"/>
          </p:cNvSpPr>
          <p:nvPr>
            <p:ph type="title"/>
          </p:nvPr>
        </p:nvSpPr>
        <p:spPr>
          <a:xfrm>
            <a:off x="937075" y="2205350"/>
            <a:ext cx="42090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100"/>
              <a:t>¿Qué optimizador utilizar?</a:t>
            </a:r>
            <a:endParaRPr sz="4100"/>
          </a:p>
        </p:txBody>
      </p:sp>
      <p:sp>
        <p:nvSpPr>
          <p:cNvPr id="329" name="Google Shape;329;p36"/>
          <p:cNvSpPr txBox="1">
            <a:spLocks noGrp="1"/>
          </p:cNvSpPr>
          <p:nvPr>
            <p:ph type="sldNum" idx="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24</a:t>
            </a:fld>
            <a:endParaRPr/>
          </a:p>
        </p:txBody>
      </p:sp>
      <p:sp>
        <p:nvSpPr>
          <p:cNvPr id="330" name="Google Shape;330;p36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419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Optimizadores de primer y segundo orden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7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25</a:t>
            </a:fld>
            <a:endParaRPr/>
          </a:p>
        </p:txBody>
      </p:sp>
      <p:pic>
        <p:nvPicPr>
          <p:cNvPr id="338" name="Google Shape;33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74" y="868542"/>
            <a:ext cx="11002452" cy="444169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7"/>
          <p:cNvSpPr txBox="1"/>
          <p:nvPr/>
        </p:nvSpPr>
        <p:spPr>
          <a:xfrm>
            <a:off x="982432" y="5487797"/>
            <a:ext cx="10227000" cy="7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Una estrategia práctica que ofrece buenos resultados es utilizar un optimizador de segundo orden a continuación de uno de primer orden</a:t>
            </a:r>
            <a:endParaRPr sz="2100"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Adam: Adaptive moment optimizer (primer orden)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8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26</a:t>
            </a:fld>
            <a:endParaRPr/>
          </a:p>
        </p:txBody>
      </p:sp>
      <p:sp>
        <p:nvSpPr>
          <p:cNvPr id="347" name="Google Shape;347;p38"/>
          <p:cNvSpPr txBox="1"/>
          <p:nvPr/>
        </p:nvSpPr>
        <p:spPr>
          <a:xfrm>
            <a:off x="519250" y="892925"/>
            <a:ext cx="6241800" cy="54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100"/>
              <a:buFont typeface="Gill Sans"/>
              <a:buChar char="●"/>
            </a:pPr>
            <a:r>
              <a:rPr lang="es-419" sz="21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Método híbrido que combina ideas de optimizadores basados en el concepto de “momento” y del optimizador RMSProp</a:t>
            </a:r>
            <a:endParaRPr sz="21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100"/>
              <a:buFont typeface="Gill Sans"/>
              <a:buChar char="●"/>
            </a:pPr>
            <a:r>
              <a:rPr lang="es-419" sz="21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Integra en su implementación un learning rate adaptativo</a:t>
            </a:r>
            <a:endParaRPr sz="21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100"/>
              <a:buFont typeface="Gill Sans"/>
              <a:buChar char="●"/>
            </a:pPr>
            <a:r>
              <a:rPr lang="es-419" sz="21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Ofrece buena convergencia, performance robusta en una gama amplia de problemas, y es computacionalmente eficiente</a:t>
            </a:r>
            <a:endParaRPr sz="21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100"/>
              <a:buFont typeface="Gill Sans"/>
              <a:buChar char="●"/>
            </a:pPr>
            <a:r>
              <a:rPr lang="es-419" sz="21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Puede conducir al overfitting debido al LR adaptativo</a:t>
            </a:r>
            <a:endParaRPr sz="21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1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48" name="Google Shape;3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5542" y="1933415"/>
            <a:ext cx="4767208" cy="2854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Quasi-Newton (segundo orden)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9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27</a:t>
            </a:fld>
            <a:endParaRPr/>
          </a:p>
        </p:txBody>
      </p:sp>
      <p:pic>
        <p:nvPicPr>
          <p:cNvPr id="356" name="Google Shape;3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0126" y="1919694"/>
            <a:ext cx="4862510" cy="2089308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9"/>
          <p:cNvSpPr txBox="1"/>
          <p:nvPr/>
        </p:nvSpPr>
        <p:spPr>
          <a:xfrm>
            <a:off x="192775" y="914475"/>
            <a:ext cx="6201300" cy="22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 cómputo exacto de la matriz Hessiana y su inversa es prohibitivo en DL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 utilizan </a:t>
            </a:r>
            <a:r>
              <a:rPr lang="es-419" sz="20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métodos iterativos</a:t>
            </a: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para computar una </a:t>
            </a:r>
            <a:r>
              <a:rPr lang="es-419" sz="20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aproximación</a:t>
            </a: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método BFGS y L-BFGS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Gill Sans"/>
              <a:buChar char="●"/>
            </a:pPr>
            <a:r>
              <a:rPr lang="es-419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 consecuencia, no son estrictamente de segundo orden (convergencia “super-lineal”)</a:t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58" name="Google Shape;35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6954" y="4603210"/>
            <a:ext cx="4628844" cy="78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864" y="3371197"/>
            <a:ext cx="5507101" cy="2781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113" y="1193213"/>
            <a:ext cx="3383224" cy="29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>
            <a:spLocks noGrp="1"/>
          </p:cNvSpPr>
          <p:nvPr>
            <p:ph type="title"/>
          </p:nvPr>
        </p:nvSpPr>
        <p:spPr>
          <a:xfrm>
            <a:off x="937075" y="2205350"/>
            <a:ext cx="42090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100"/>
              <a:t>Learning rate scheduling</a:t>
            </a:r>
            <a:endParaRPr sz="4100"/>
          </a:p>
        </p:txBody>
      </p:sp>
      <p:sp>
        <p:nvSpPr>
          <p:cNvPr id="366" name="Google Shape;366;p40"/>
          <p:cNvSpPr txBox="1">
            <a:spLocks noGrp="1"/>
          </p:cNvSpPr>
          <p:nvPr>
            <p:ph type="sldNum" idx="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28</a:t>
            </a:fld>
            <a:endParaRPr/>
          </a:p>
        </p:txBody>
      </p:sp>
      <p:sp>
        <p:nvSpPr>
          <p:cNvPr id="367" name="Google Shape;367;p40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419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1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Learning rate scheduling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41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29</a:t>
            </a:fld>
            <a:endParaRPr/>
          </a:p>
        </p:txBody>
      </p:sp>
      <p:sp>
        <p:nvSpPr>
          <p:cNvPr id="375" name="Google Shape;375;p41"/>
          <p:cNvSpPr txBox="1"/>
          <p:nvPr/>
        </p:nvSpPr>
        <p:spPr>
          <a:xfrm>
            <a:off x="231975" y="1041700"/>
            <a:ext cx="11295600" cy="21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Utilizar un learning rate constante no es la mejor estrategia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Usualmente se comienza con lr alto y luego se disminuye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Existen varias estrategias: decaimiento exponencial, polinómico, cíclico, etc.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Ojo: Adam implementa automáticamente un lr scheduling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76" name="Google Shape;3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067" y="3671365"/>
            <a:ext cx="7873863" cy="1674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Learning rate scheduling: constante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2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30</a:t>
            </a:fld>
            <a:endParaRPr/>
          </a:p>
        </p:txBody>
      </p:sp>
      <p:pic>
        <p:nvPicPr>
          <p:cNvPr id="384" name="Google Shape;38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061" y="959048"/>
            <a:ext cx="4977289" cy="4971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409" y="1341450"/>
            <a:ext cx="5785291" cy="46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650" y="5950088"/>
            <a:ext cx="5623043" cy="458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1000" y="870150"/>
            <a:ext cx="2698339" cy="47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3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Learning rate scheduling: exponencial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3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31</a:t>
            </a:fld>
            <a:endParaRPr/>
          </a:p>
        </p:txBody>
      </p:sp>
      <p:pic>
        <p:nvPicPr>
          <p:cNvPr id="395" name="Google Shape;3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01" y="1411832"/>
            <a:ext cx="5834845" cy="4623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862" y="893149"/>
            <a:ext cx="2761155" cy="4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3"/>
          <p:cNvPicPr preferRelativeResize="0"/>
          <p:nvPr/>
        </p:nvPicPr>
        <p:blipFill rotWithShape="1">
          <a:blip r:embed="rId5">
            <a:alphaModFix/>
          </a:blip>
          <a:srcRect b="26280"/>
          <a:stretch/>
        </p:blipFill>
        <p:spPr>
          <a:xfrm>
            <a:off x="987064" y="5837048"/>
            <a:ext cx="4748726" cy="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4228" y="893143"/>
            <a:ext cx="5231380" cy="5041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Learning rate scheduling: potencia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4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32</a:t>
            </a:fld>
            <a:endParaRPr/>
          </a:p>
        </p:txBody>
      </p:sp>
      <p:pic>
        <p:nvPicPr>
          <p:cNvPr id="406" name="Google Shape;40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114" y="975425"/>
            <a:ext cx="5620378" cy="5400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513" y="1941436"/>
            <a:ext cx="5186290" cy="4177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4916" y="975425"/>
            <a:ext cx="2571484" cy="771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Learning rate scheduling: cíclico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5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33</a:t>
            </a:fld>
            <a:endParaRPr/>
          </a:p>
        </p:txBody>
      </p:sp>
      <p:pic>
        <p:nvPicPr>
          <p:cNvPr id="416" name="Google Shape;41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9914" y="1239868"/>
            <a:ext cx="3875185" cy="2364787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5"/>
          <p:cNvSpPr txBox="1"/>
          <p:nvPr/>
        </p:nvSpPr>
        <p:spPr>
          <a:xfrm>
            <a:off x="192775" y="1074400"/>
            <a:ext cx="6856800" cy="46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00"/>
              <a:buFont typeface="Gill Sans"/>
              <a:buChar char="●"/>
            </a:pPr>
            <a:r>
              <a:rPr lang="es-419" sz="24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La idea es sucesivamente converger y escapar de mínimos locales hasta llegar a un buen mínimo local</a:t>
            </a:r>
            <a:endParaRPr sz="24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400"/>
              <a:buFont typeface="Gill Sans"/>
              <a:buChar char="●"/>
            </a:pPr>
            <a:r>
              <a:rPr lang="es-419" sz="24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Stepsize: 2-10 epochs (suele ser diferente el N° de stepsizes en la parte ascendente que en la descendente)</a:t>
            </a:r>
            <a:endParaRPr sz="24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737373"/>
              </a:buClr>
              <a:buSzPts val="2400"/>
              <a:buFont typeface="Gill Sans"/>
              <a:buChar char="●"/>
            </a:pPr>
            <a:r>
              <a:rPr lang="es-419" sz="24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Base_lr: se elige en el punto donde se aprecia un incremento en el accuracy (problema de clasificación)</a:t>
            </a:r>
            <a:endParaRPr sz="24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Clr>
                <a:srgbClr val="737373"/>
              </a:buClr>
              <a:buSzPts val="2400"/>
              <a:buFont typeface="Gill Sans"/>
              <a:buChar char="●"/>
            </a:pPr>
            <a:r>
              <a:rPr lang="es-419" sz="2400">
                <a:solidFill>
                  <a:srgbClr val="737373"/>
                </a:solidFill>
                <a:latin typeface="Gill Sans"/>
                <a:ea typeface="Gill Sans"/>
                <a:cs typeface="Gill Sans"/>
                <a:sym typeface="Gill Sans"/>
              </a:rPr>
              <a:t>Max_lr: se elige en el punto donde se aprecia un estancamiento en el accuracy</a:t>
            </a:r>
            <a:endParaRPr sz="2400">
              <a:solidFill>
                <a:srgbClr val="73737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18" name="Google Shape;41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9925" y="3745425"/>
            <a:ext cx="3603994" cy="23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6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Learning rate scheduling: cíclico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46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34</a:t>
            </a:fld>
            <a:endParaRPr/>
          </a:p>
        </p:txBody>
      </p:sp>
      <p:pic>
        <p:nvPicPr>
          <p:cNvPr id="426" name="Google Shape;42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288" y="860050"/>
            <a:ext cx="5332099" cy="4355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8610" y="860050"/>
            <a:ext cx="5551103" cy="435519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6"/>
          <p:cNvSpPr txBox="1"/>
          <p:nvPr/>
        </p:nvSpPr>
        <p:spPr>
          <a:xfrm>
            <a:off x="622475" y="5320549"/>
            <a:ext cx="5332200" cy="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SGD con learning rate schedule típico converge a un mínimo local al final del entrenamiento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46"/>
          <p:cNvSpPr txBox="1"/>
          <p:nvPr/>
        </p:nvSpPr>
        <p:spPr>
          <a:xfrm>
            <a:off x="6298063" y="5320547"/>
            <a:ext cx="5332200" cy="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 scheduling cíclico converge y escapa de múltiples mínimos locales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7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Learning rate scheduling: cíclico (implementación Pytorch)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47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35</a:t>
            </a:fld>
            <a:endParaRPr/>
          </a:p>
        </p:txBody>
      </p:sp>
      <p:pic>
        <p:nvPicPr>
          <p:cNvPr id="437" name="Google Shape;43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438" y="999750"/>
            <a:ext cx="10665126" cy="1448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8092" y="2564415"/>
            <a:ext cx="5520121" cy="3744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8"/>
          <p:cNvSpPr txBox="1">
            <a:spLocks noGrp="1"/>
          </p:cNvSpPr>
          <p:nvPr>
            <p:ph type="title"/>
          </p:nvPr>
        </p:nvSpPr>
        <p:spPr>
          <a:xfrm>
            <a:off x="937075" y="2844750"/>
            <a:ext cx="42090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100"/>
              <a:t>Regularización</a:t>
            </a:r>
            <a:endParaRPr sz="4100"/>
          </a:p>
        </p:txBody>
      </p:sp>
      <p:sp>
        <p:nvSpPr>
          <p:cNvPr id="444" name="Google Shape;444;p48"/>
          <p:cNvSpPr txBox="1">
            <a:spLocks noGrp="1"/>
          </p:cNvSpPr>
          <p:nvPr>
            <p:ph type="sldNum" idx="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36</a:t>
            </a:fld>
            <a:endParaRPr/>
          </a:p>
        </p:txBody>
      </p:sp>
      <p:sp>
        <p:nvSpPr>
          <p:cNvPr id="445" name="Google Shape;445;p48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419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Regularización L2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9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37</a:t>
            </a:fld>
            <a:endParaRPr/>
          </a:p>
        </p:txBody>
      </p:sp>
      <p:sp>
        <p:nvSpPr>
          <p:cNvPr id="453" name="Google Shape;453;p49"/>
          <p:cNvSpPr txBox="1"/>
          <p:nvPr/>
        </p:nvSpPr>
        <p:spPr>
          <a:xfrm>
            <a:off x="10863349" y="5911925"/>
            <a:ext cx="6585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37</a:t>
            </a:fld>
            <a:endParaRPr sz="1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49"/>
          <p:cNvSpPr txBox="1"/>
          <p:nvPr/>
        </p:nvSpPr>
        <p:spPr>
          <a:xfrm>
            <a:off x="192775" y="898912"/>
            <a:ext cx="10236600" cy="1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Regresión “ridge” o de Tikhonov (“weight decay” en PyTorch)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 utiliza para reducir los errores de test para nuevas entradas. En contrapartida, puede aumentar el error de entrenamiento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 practica durante el entrenamiento, pero no durante el testing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55" name="Google Shape;455;p49"/>
          <p:cNvPicPr preferRelativeResize="0"/>
          <p:nvPr/>
        </p:nvPicPr>
        <p:blipFill rotWithShape="1">
          <a:blip r:embed="rId3">
            <a:alphaModFix/>
          </a:blip>
          <a:srcRect l="26691" t="22702" r="24617" b="64482"/>
          <a:stretch/>
        </p:blipFill>
        <p:spPr>
          <a:xfrm>
            <a:off x="866101" y="2849408"/>
            <a:ext cx="4649231" cy="856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9"/>
          <p:cNvPicPr preferRelativeResize="0"/>
          <p:nvPr/>
        </p:nvPicPr>
        <p:blipFill rotWithShape="1">
          <a:blip r:embed="rId4">
            <a:alphaModFix/>
          </a:blip>
          <a:srcRect l="32918" t="92507" r="29687"/>
          <a:stretch/>
        </p:blipFill>
        <p:spPr>
          <a:xfrm>
            <a:off x="1254535" y="5228370"/>
            <a:ext cx="3872369" cy="512399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9"/>
          <p:cNvSpPr txBox="1"/>
          <p:nvPr/>
        </p:nvSpPr>
        <p:spPr>
          <a:xfrm>
            <a:off x="712075" y="3452564"/>
            <a:ext cx="49572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parámetro de regularización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8" name="Google Shape;458;p49"/>
          <p:cNvSpPr txBox="1"/>
          <p:nvPr/>
        </p:nvSpPr>
        <p:spPr>
          <a:xfrm>
            <a:off x="712093" y="5740770"/>
            <a:ext cx="49572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Solución cerrada (regresión lineal)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9" name="Google Shape;459;p49"/>
          <p:cNvSpPr txBox="1"/>
          <p:nvPr/>
        </p:nvSpPr>
        <p:spPr>
          <a:xfrm>
            <a:off x="5711725" y="2849400"/>
            <a:ext cx="5913900" cy="29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Las componentes de        en la diagonal corresponden a la varianza de cada una de las entradas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 algoritmo de aprendizaje percibe una varianza mayor en tales componentes, lo cual contrae los pesos asociados a las demás componentes cuya covarianza sea menor 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60" name="Google Shape;460;p49"/>
          <p:cNvPicPr preferRelativeResize="0"/>
          <p:nvPr/>
        </p:nvPicPr>
        <p:blipFill rotWithShape="1">
          <a:blip r:embed="rId3">
            <a:alphaModFix/>
          </a:blip>
          <a:srcRect l="25101" t="47720" r="22635" b="42951"/>
          <a:stretch/>
        </p:blipFill>
        <p:spPr>
          <a:xfrm>
            <a:off x="669750" y="4067334"/>
            <a:ext cx="5041987" cy="62995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9"/>
          <p:cNvSpPr txBox="1"/>
          <p:nvPr/>
        </p:nvSpPr>
        <p:spPr>
          <a:xfrm>
            <a:off x="712063" y="4628029"/>
            <a:ext cx="49572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Gradiente de la función obj. (contribución lineal)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62" name="Google Shape;46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7500" y="3515616"/>
            <a:ext cx="315183" cy="34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3600" y="2922777"/>
            <a:ext cx="637292" cy="3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Regularización L1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50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38</a:t>
            </a:fld>
            <a:endParaRPr/>
          </a:p>
        </p:txBody>
      </p:sp>
      <p:pic>
        <p:nvPicPr>
          <p:cNvPr id="471" name="Google Shape;471;p50"/>
          <p:cNvPicPr preferRelativeResize="0"/>
          <p:nvPr/>
        </p:nvPicPr>
        <p:blipFill rotWithShape="1">
          <a:blip r:embed="rId3">
            <a:alphaModFix/>
          </a:blip>
          <a:srcRect l="32713" t="44456" r="6728" b="43086"/>
          <a:stretch/>
        </p:blipFill>
        <p:spPr>
          <a:xfrm>
            <a:off x="3243901" y="899813"/>
            <a:ext cx="5704182" cy="671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0"/>
          <p:cNvPicPr preferRelativeResize="0"/>
          <p:nvPr/>
        </p:nvPicPr>
        <p:blipFill rotWithShape="1">
          <a:blip r:embed="rId3">
            <a:alphaModFix/>
          </a:blip>
          <a:srcRect l="26356" t="75370" b="12941"/>
          <a:stretch/>
        </p:blipFill>
        <p:spPr>
          <a:xfrm>
            <a:off x="2630866" y="1570865"/>
            <a:ext cx="6930263" cy="6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0"/>
          <p:cNvSpPr txBox="1"/>
          <p:nvPr/>
        </p:nvSpPr>
        <p:spPr>
          <a:xfrm>
            <a:off x="203650" y="2453500"/>
            <a:ext cx="10732800" cy="3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Regressión “LASSO” (least absolute shrinkage and selection operator)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 contribución al gradiente es no lineal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Promueve soluciones “sparse” → Algunos parámetros tienen un valor óptimo de cero 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Este tipo de regularizador se utiliza como selector de features (aquellas cuyos parámetros sean cero pueden ser descartadas del modelo)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 tiene implementación en PyTorch ni TF, pero podemos definirla fácilmente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1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/>
              <a:t>Dropout</a:t>
            </a:r>
            <a:endParaRPr/>
          </a:p>
        </p:txBody>
      </p:sp>
      <p:sp>
        <p:nvSpPr>
          <p:cNvPr id="480" name="Google Shape;480;p51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39</a:t>
            </a:fld>
            <a:endParaRPr/>
          </a:p>
        </p:txBody>
      </p:sp>
      <p:sp>
        <p:nvSpPr>
          <p:cNvPr id="481" name="Google Shape;481;p51"/>
          <p:cNvSpPr txBox="1"/>
          <p:nvPr/>
        </p:nvSpPr>
        <p:spPr>
          <a:xfrm>
            <a:off x="192775" y="1020850"/>
            <a:ext cx="10718700" cy="4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Estrategia propuesta por Hinton en 2012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Permite crear “ensembles” de muchas DNN, es decir que entrena de manera ingeniosa y sin costo adicional, múltiples modelos y los evalúa en cada conjunto de prueba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Puede ser utilizado junto con estrategias L1 o L2 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Es una estrategia equivalente a regularización L2 en el caso de regresión lineal, pero no en DL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Dropout rate “p”: hiperparámetro definido en [0, 1] en cada capa, que indica la probabilidad de que una unidad sea removida temporalmente, y que actúa como una máscara sobre cada unidad.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/>
              <a:t>Dropout: esquema de funcionamiento</a:t>
            </a:r>
            <a:endParaRPr/>
          </a:p>
        </p:txBody>
      </p:sp>
      <p:sp>
        <p:nvSpPr>
          <p:cNvPr id="488" name="Google Shape;488;p52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40</a:t>
            </a:fld>
            <a:endParaRPr/>
          </a:p>
        </p:txBody>
      </p:sp>
      <p:pic>
        <p:nvPicPr>
          <p:cNvPr id="489" name="Google Shape;48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775" y="859050"/>
            <a:ext cx="8304452" cy="56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2"/>
          <p:cNvSpPr txBox="1"/>
          <p:nvPr/>
        </p:nvSpPr>
        <p:spPr>
          <a:xfrm>
            <a:off x="6924675" y="4508501"/>
            <a:ext cx="4614900" cy="11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 cada capa, las unidades se desactivan de manera aleatoria e independiente</a:t>
            </a:r>
            <a:endParaRPr sz="2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3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/>
              <a:t>Dropout: características destacables</a:t>
            </a:r>
            <a:endParaRPr sz="4000"/>
          </a:p>
        </p:txBody>
      </p:sp>
      <p:sp>
        <p:nvSpPr>
          <p:cNvPr id="497" name="Google Shape;497;p53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41</a:t>
            </a:fld>
            <a:endParaRPr/>
          </a:p>
        </p:txBody>
      </p:sp>
      <p:sp>
        <p:nvSpPr>
          <p:cNvPr id="498" name="Google Shape;498;p53"/>
          <p:cNvSpPr txBox="1"/>
          <p:nvPr/>
        </p:nvSpPr>
        <p:spPr>
          <a:xfrm>
            <a:off x="278725" y="832800"/>
            <a:ext cx="11136000" cy="3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Consideremos el caso de entrenar un modelo via SGD (una entrada del dataset a la vez) utilizando dropout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Dado que cada neurona puede estar presente o ausente debido al dropout rate, hay un total de      (donde “m” es el número de neuronas “droppeables”) redes neuronales posibles por cada entrada del dataset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Luego de correr N epochs, habremos entrenado N redes neuronales diferentes, por cada entrada del dataset!</a:t>
            </a:r>
            <a:endParaRPr sz="2300" b="1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 red neuronal resultante puede ser vista como un “ensemble” promediado de todas estas redes similares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99" name="Google Shape;49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950" y="2123150"/>
            <a:ext cx="431025" cy="30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4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/>
              <a:t>Dropout: datos prácticos</a:t>
            </a:r>
            <a:endParaRPr sz="4000"/>
          </a:p>
        </p:txBody>
      </p:sp>
      <p:sp>
        <p:nvSpPr>
          <p:cNvPr id="506" name="Google Shape;506;p54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42</a:t>
            </a:fld>
            <a:endParaRPr/>
          </a:p>
        </p:txBody>
      </p:sp>
      <p:sp>
        <p:nvSpPr>
          <p:cNvPr id="507" name="Google Shape;507;p54"/>
          <p:cNvSpPr txBox="1"/>
          <p:nvPr/>
        </p:nvSpPr>
        <p:spPr>
          <a:xfrm>
            <a:off x="278725" y="832800"/>
            <a:ext cx="10897800" cy="3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 la práctica, se aplica dropout a las capas 1-3 más alejadas, pero no a la capa de salida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 dropout se encuentra activo solamente durante el entrenamiento. Para comparar el error de entrenamiento con el de validación se debe evaluar con toda la red sin dropout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 el modelo aún así “overfitea”, podemos incrementar el dropout rate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Font typeface="Gill Sans"/>
              <a:buChar char="●"/>
            </a:pPr>
            <a:r>
              <a:rPr lang="es-419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 dropout tiende a reducir la tasa de convergencia, pero los beneficios son mayores que esta desventaja</a:t>
            </a:r>
            <a:endParaRPr sz="2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5"/>
          <p:cNvSpPr txBox="1">
            <a:spLocks noGrp="1"/>
          </p:cNvSpPr>
          <p:nvPr>
            <p:ph type="title"/>
          </p:nvPr>
        </p:nvSpPr>
        <p:spPr>
          <a:xfrm>
            <a:off x="937075" y="2844750"/>
            <a:ext cx="42090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100"/>
              <a:t>Sumario</a:t>
            </a:r>
            <a:endParaRPr sz="4100"/>
          </a:p>
        </p:txBody>
      </p:sp>
      <p:sp>
        <p:nvSpPr>
          <p:cNvPr id="513" name="Google Shape;513;p55"/>
          <p:cNvSpPr txBox="1">
            <a:spLocks noGrp="1"/>
          </p:cNvSpPr>
          <p:nvPr>
            <p:ph type="sldNum" idx="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43</a:t>
            </a:fld>
            <a:endParaRPr/>
          </a:p>
        </p:txBody>
      </p:sp>
      <p:sp>
        <p:nvSpPr>
          <p:cNvPr id="514" name="Google Shape;514;p55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-419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6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/>
              <a:t>Sumario</a:t>
            </a:r>
            <a:endParaRPr/>
          </a:p>
        </p:txBody>
      </p:sp>
      <p:sp>
        <p:nvSpPr>
          <p:cNvPr id="521" name="Google Shape;521;p56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44</a:t>
            </a:fld>
            <a:endParaRPr/>
          </a:p>
        </p:txBody>
      </p:sp>
      <p:sp>
        <p:nvSpPr>
          <p:cNvPr id="522" name="Google Shape;522;p56"/>
          <p:cNvSpPr txBox="1"/>
          <p:nvPr/>
        </p:nvSpPr>
        <p:spPr>
          <a:xfrm>
            <a:off x="263300" y="895250"/>
            <a:ext cx="11377800" cy="54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Char char="●"/>
            </a:pPr>
            <a:r>
              <a:rPr lang="es-419" sz="2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Las principales dificultades en entrenar NN se relacionan con la estrategia de back propagation, y a la necesidad de minimizar una función no convexa multidimensional.</a:t>
            </a: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873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Char char="●"/>
            </a:pPr>
            <a:r>
              <a:rPr lang="es-419" sz="2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Stochastic gradient descent (SGD) y mini-batch GD con decaimiento de learning rate son métodos prácticos y efectivos.</a:t>
            </a: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873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Char char="●"/>
            </a:pPr>
            <a:r>
              <a:rPr lang="es-419" sz="2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 underfitting ocurre para modelos de baja capacidad, mientras que el overfitting ocurre para modelos de gran capacidad.</a:t>
            </a: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873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Char char="●"/>
            </a:pPr>
            <a:r>
              <a:rPr lang="es-419" sz="2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Tanto las inicializaciones de Xavier y He como la normalización de las entradas son componentes claves y efectivos para entrenar NN.</a:t>
            </a: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873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500"/>
              <a:buFont typeface="Gill Sans"/>
              <a:buChar char="●"/>
            </a:pPr>
            <a:r>
              <a:rPr lang="es-419" sz="2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Batch normalization puede conducir a una convergencia más rápida, evitar vanishing gradients, permitir learning rates mas elevados, y actuar como regularizador.</a:t>
            </a: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7"/>
          <p:cNvSpPr txBox="1">
            <a:spLocks noGrp="1"/>
          </p:cNvSpPr>
          <p:nvPr>
            <p:ph type="body" idx="2"/>
          </p:nvPr>
        </p:nvSpPr>
        <p:spPr>
          <a:xfrm>
            <a:off x="192772" y="174933"/>
            <a:ext cx="10804500" cy="47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/>
              <a:t>Sumario</a:t>
            </a:r>
            <a:endParaRPr/>
          </a:p>
        </p:txBody>
      </p:sp>
      <p:sp>
        <p:nvSpPr>
          <p:cNvPr id="529" name="Google Shape;529;p57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45</a:t>
            </a:fld>
            <a:endParaRPr/>
          </a:p>
        </p:txBody>
      </p:sp>
      <p:sp>
        <p:nvSpPr>
          <p:cNvPr id="530" name="Google Shape;530;p57"/>
          <p:cNvSpPr txBox="1"/>
          <p:nvPr/>
        </p:nvSpPr>
        <p:spPr>
          <a:xfrm>
            <a:off x="355850" y="975950"/>
            <a:ext cx="11264400" cy="46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Char char="●"/>
            </a:pPr>
            <a:r>
              <a:rPr lang="es-419" sz="2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Hay muchos optimizadores, pero la combinación de ADAM + L-BFGS es usualmente la que mejores resultados proporciona.</a:t>
            </a: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873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Char char="●"/>
            </a:pPr>
            <a:r>
              <a:rPr lang="es-419" sz="2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Las estrategias de decaimiento y cíclicas para el learning rate son importantes para acelerar la convergencia y evitar mínimos “malos”.</a:t>
            </a: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873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Char char="●"/>
            </a:pPr>
            <a:r>
              <a:rPr lang="es-419" sz="2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 regularización L2 conduce a una mejor generalización mientras que la L1 promueve la “sparcity”. Cuál emplear depende del problema.</a:t>
            </a: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873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Char char="●"/>
            </a:pPr>
            <a:r>
              <a:rPr lang="es-419" sz="25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 regularización mediante dropout es efectiva para regularizar pero depende fuertemente de la tasa de dropout, que debe ser variable a través de las capas.</a:t>
            </a: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8"/>
          <p:cNvSpPr txBox="1">
            <a:spLocks noGrp="1"/>
          </p:cNvSpPr>
          <p:nvPr>
            <p:ph type="sldNum" idx="12"/>
          </p:nvPr>
        </p:nvSpPr>
        <p:spPr>
          <a:xfrm>
            <a:off x="9948863" y="6507212"/>
            <a:ext cx="169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419"/>
              <a:t>46</a:t>
            </a:fld>
            <a:endParaRPr/>
          </a:p>
        </p:txBody>
      </p:sp>
      <p:sp>
        <p:nvSpPr>
          <p:cNvPr id="536" name="Google Shape;536;p58"/>
          <p:cNvSpPr txBox="1">
            <a:spLocks noGrp="1"/>
          </p:cNvSpPr>
          <p:nvPr>
            <p:ph type="ctrTitle"/>
          </p:nvPr>
        </p:nvSpPr>
        <p:spPr>
          <a:xfrm>
            <a:off x="741675" y="2795850"/>
            <a:ext cx="3213300" cy="1266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¿Dudas o preguntas?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rgbClr val="000000"/>
      </a:dk1>
      <a:lt1>
        <a:srgbClr val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1848</Words>
  <Application>Microsoft Office PowerPoint</Application>
  <PresentationFormat>Panorámica</PresentationFormat>
  <Paragraphs>261</Paragraphs>
  <Slides>46</Slides>
  <Notes>46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2" baseType="lpstr">
      <vt:lpstr>Play</vt:lpstr>
      <vt:lpstr>Roboto</vt:lpstr>
      <vt:lpstr>Calibri</vt:lpstr>
      <vt:lpstr>Gill Sans</vt:lpstr>
      <vt:lpstr>Arial</vt:lpstr>
      <vt:lpstr>3DFloatVTI</vt:lpstr>
      <vt:lpstr>Lectura 1.2: Entrenamiento de modelos</vt:lpstr>
      <vt:lpstr>Outline</vt:lpstr>
      <vt:lpstr>Presentación de PowerPoint</vt:lpstr>
      <vt:lpstr>Presentación de PowerPoint</vt:lpstr>
      <vt:lpstr>Presentación de PowerPoint</vt:lpstr>
      <vt:lpstr>Presentación de PowerPoint</vt:lpstr>
      <vt:lpstr>Características principales de los algoritmos</vt:lpstr>
      <vt:lpstr>Presentación de PowerPoint</vt:lpstr>
      <vt:lpstr>Presentación de PowerPoint</vt:lpstr>
      <vt:lpstr>¿Se pueden evitar mínimos locales “malos” en NN? </vt:lpstr>
      <vt:lpstr>Presentación de PowerPoint</vt:lpstr>
      <vt:lpstr>La respuesta es también… SI!!!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¿Qué optimizador utilizar?</vt:lpstr>
      <vt:lpstr>Presentación de PowerPoint</vt:lpstr>
      <vt:lpstr>Presentación de PowerPoint</vt:lpstr>
      <vt:lpstr>Presentación de PowerPoint</vt:lpstr>
      <vt:lpstr>Learning rate scheduling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Regularización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Sumario</vt:lpstr>
      <vt:lpstr>Presentación de PowerPoint</vt:lpstr>
      <vt:lpstr>Presentación de PowerPoint</vt:lpstr>
      <vt:lpstr>¿Dudas o 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Massobrio, Carlos</cp:lastModifiedBy>
  <cp:revision>1</cp:revision>
  <dcterms:modified xsi:type="dcterms:W3CDTF">2025-06-19T13:19:26Z</dcterms:modified>
</cp:coreProperties>
</file>