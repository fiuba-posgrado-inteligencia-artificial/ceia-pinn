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Gill Sans" panose="020B0604020202020204" charset="0"/>
      <p:regular r:id="rId12"/>
      <p:bold r:id="rId13"/>
    </p:embeddedFont>
    <p:embeddedFont>
      <p:font typeface="Play" panose="020B0604020202020204" charset="0"/>
      <p:regular r:id="rId14"/>
      <p:bold r:id="rId15"/>
    </p:embeddedFont>
    <p:embeddedFont>
      <p:font typeface="Roboto" panose="02000000000000000000" pitchFamily="2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Jlp9RxNuIV/mztnbZd7+4Ta5C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obrio, Carlos" userId="fb28f1a7-6047-47b6-ad0c-d024d891f8b1" providerId="ADAL" clId="{11AC7893-B5FD-49B0-95FB-AC127C44A099}"/>
    <pc:docChg chg="custSel modMainMaster">
      <pc:chgData name="Massobrio, Carlos" userId="fb28f1a7-6047-47b6-ad0c-d024d891f8b1" providerId="ADAL" clId="{11AC7893-B5FD-49B0-95FB-AC127C44A099}" dt="2025-06-19T13:14:06.567" v="4" actId="20577"/>
      <pc:docMkLst>
        <pc:docMk/>
      </pc:docMkLst>
      <pc:sldMasterChg chg="modSldLayout">
        <pc:chgData name="Massobrio, Carlos" userId="fb28f1a7-6047-47b6-ad0c-d024d891f8b1" providerId="ADAL" clId="{11AC7893-B5FD-49B0-95FB-AC127C44A099}" dt="2025-06-19T13:14:06.567" v="4" actId="20577"/>
        <pc:sldMasterMkLst>
          <pc:docMk/>
          <pc:sldMasterMk cId="0" sldId="2147483648"/>
        </pc:sldMasterMkLst>
        <pc:sldLayoutChg chg="modSp mod">
          <pc:chgData name="Massobrio, Carlos" userId="fb28f1a7-6047-47b6-ad0c-d024d891f8b1" providerId="ADAL" clId="{11AC7893-B5FD-49B0-95FB-AC127C44A099}" dt="2025-06-19T13:14:06.567" v="4" actId="20577"/>
          <pc:sldLayoutMkLst>
            <pc:docMk/>
            <pc:sldMasterMk cId="0" sldId="2147483648"/>
            <pc:sldLayoutMk cId="0" sldId="2147483649"/>
          </pc:sldLayoutMkLst>
          <pc:spChg chg="mod">
            <ac:chgData name="Massobrio, Carlos" userId="fb28f1a7-6047-47b6-ad0c-d024d891f8b1" providerId="ADAL" clId="{11AC7893-B5FD-49B0-95FB-AC127C44A099}" dt="2025-06-19T13:14:06.567" v="4" actId="20577"/>
            <ac:spMkLst>
              <pc:docMk/>
              <pc:sldMasterMk cId="0" sldId="2147483648"/>
              <pc:sldLayoutMk cId="0" sldId="2147483649"/>
              <ac:spMk id="14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ción">
  <p:cSld name="Presentación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 descr="Fondo digital de puntos de datos"/>
          <p:cNvPicPr preferRelativeResize="0"/>
          <p:nvPr/>
        </p:nvPicPr>
        <p:blipFill rotWithShape="1">
          <a:blip r:embed="rId2">
            <a:alphaModFix/>
          </a:blip>
          <a:srcRect l="115" r="21727"/>
          <a:stretch/>
        </p:blipFill>
        <p:spPr>
          <a:xfrm rot="-5400000" flipH="1">
            <a:off x="4760768" y="760268"/>
            <a:ext cx="5143500" cy="3622964"/>
          </a:xfrm>
          <a:prstGeom prst="flowChartManualInpu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162543" y="315131"/>
            <a:ext cx="5559900" cy="27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11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2455162" cy="9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1"/>
          <p:cNvSpPr txBox="1"/>
          <p:nvPr/>
        </p:nvSpPr>
        <p:spPr>
          <a:xfrm>
            <a:off x="162544" y="3514725"/>
            <a:ext cx="5358300" cy="1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419" sz="1700" b="1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Redes Neuronales Informadas por Física</a:t>
            </a:r>
            <a:endParaRPr sz="1700" b="1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419" sz="17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Especialización en Inteligencia Artificial – B32025</a:t>
            </a:r>
            <a:endParaRPr sz="17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419" sz="17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Docentes: </a:t>
            </a:r>
            <a:r>
              <a:rPr lang="es-419" sz="1700" b="0" i="0" u="none" strike="noStrike" cap="none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Benjamin</a:t>
            </a:r>
            <a:r>
              <a:rPr lang="es-419" sz="17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A. </a:t>
            </a:r>
            <a:r>
              <a:rPr lang="es-419" sz="1700" b="0" i="0" u="none" strike="noStrike" cap="none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Tourn</a:t>
            </a:r>
            <a:r>
              <a:rPr lang="es-419" sz="1700" b="0" i="0" u="none" strike="noStrike" cap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- Carlos G. Massobrio</a:t>
            </a:r>
            <a:endParaRPr sz="1700" b="0" i="0" u="none" strike="noStrike" cap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" name="Google Shape;15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empty">
  <p:cSld name="contenido empt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>
            <a:spLocks noGrp="1"/>
          </p:cNvSpPr>
          <p:nvPr>
            <p:ph type="title"/>
          </p:nvPr>
        </p:nvSpPr>
        <p:spPr>
          <a:xfrm>
            <a:off x="413146" y="373856"/>
            <a:ext cx="59703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None/>
              <a:defRPr sz="3000"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body" idx="1"/>
          </p:nvPr>
        </p:nvSpPr>
        <p:spPr>
          <a:xfrm>
            <a:off x="436007" y="1577279"/>
            <a:ext cx="5947500" cy="29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20" name="Google Shape;20;p12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5064" y="4704732"/>
            <a:ext cx="916890" cy="351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_2 1">
  <p:cSld name="Contenido_2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413156" y="2048024"/>
            <a:ext cx="8317800" cy="30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92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marL="3200400" lvl="6" indent="-3492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marL="3657600" lvl="7" indent="-3492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marL="4114800" lvl="8" indent="-3492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>
            <a:endParaRPr/>
          </a:p>
        </p:txBody>
      </p:sp>
      <p:pic>
        <p:nvPicPr>
          <p:cNvPr id="23" name="Google Shape;23;p13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" y="4792154"/>
            <a:ext cx="916890" cy="351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3" descr="Fondo digital de puntos de datos"/>
          <p:cNvPicPr preferRelativeResize="0"/>
          <p:nvPr/>
        </p:nvPicPr>
        <p:blipFill rotWithShape="1">
          <a:blip r:embed="rId3">
            <a:alphaModFix/>
          </a:blip>
          <a:srcRect l="20685" b="63013"/>
          <a:stretch/>
        </p:blipFill>
        <p:spPr>
          <a:xfrm>
            <a:off x="0" y="0"/>
            <a:ext cx="9144000" cy="19041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3"/>
          <p:cNvSpPr txBox="1">
            <a:spLocks noGrp="1"/>
          </p:cNvSpPr>
          <p:nvPr>
            <p:ph type="title"/>
          </p:nvPr>
        </p:nvSpPr>
        <p:spPr>
          <a:xfrm>
            <a:off x="325069" y="83494"/>
            <a:ext cx="85326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Gill Sans"/>
              <a:buNone/>
              <a:defRPr sz="4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_2">
  <p:cSld name="Cierre_2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ctrTitle"/>
          </p:nvPr>
        </p:nvSpPr>
        <p:spPr>
          <a:xfrm>
            <a:off x="769589" y="315131"/>
            <a:ext cx="2979900" cy="27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29" name="Google Shape;29;p14" descr="Primer plano de una red"/>
          <p:cNvPicPr preferRelativeResize="0"/>
          <p:nvPr/>
        </p:nvPicPr>
        <p:blipFill rotWithShape="1">
          <a:blip r:embed="rId2">
            <a:alphaModFix/>
          </a:blip>
          <a:srcRect b="8280"/>
          <a:stretch/>
        </p:blipFill>
        <p:spPr>
          <a:xfrm>
            <a:off x="3662267" y="8"/>
            <a:ext cx="5481734" cy="5143500"/>
          </a:xfrm>
          <a:custGeom>
            <a:avLst/>
            <a:gdLst/>
            <a:ahLst/>
            <a:cxnLst/>
            <a:rect l="l" t="t" r="r" b="b"/>
            <a:pathLst>
              <a:path w="7308978" h="6858000" extrusionOk="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769144" y="3208735"/>
            <a:ext cx="3024300" cy="1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31" name="Google Shape;31;p14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" y="4792145"/>
            <a:ext cx="916890" cy="35135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subtítulo + imagen">
  <p:cSld name="Título + subtítulo + image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ctrTitle"/>
          </p:nvPr>
        </p:nvSpPr>
        <p:spPr>
          <a:xfrm>
            <a:off x="413147" y="147675"/>
            <a:ext cx="3119400" cy="23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None/>
              <a:defRPr sz="3000"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ubTitle" idx="1"/>
          </p:nvPr>
        </p:nvSpPr>
        <p:spPr>
          <a:xfrm>
            <a:off x="410453" y="2628900"/>
            <a:ext cx="3119400" cy="17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grpSp>
        <p:nvGrpSpPr>
          <p:cNvPr id="36" name="Google Shape;36;p15"/>
          <p:cNvGrpSpPr/>
          <p:nvPr/>
        </p:nvGrpSpPr>
        <p:grpSpPr>
          <a:xfrm>
            <a:off x="8031060" y="3009454"/>
            <a:ext cx="673408" cy="700561"/>
            <a:chOff x="5129684" y="1232940"/>
            <a:chExt cx="897877" cy="934082"/>
          </a:xfrm>
        </p:grpSpPr>
        <p:sp>
          <p:nvSpPr>
            <p:cNvPr id="37" name="Google Shape;37;p15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avLst/>
              <a:gdLst/>
              <a:ahLst/>
              <a:cxnLst/>
              <a:rect l="l" t="t" r="r" b="b"/>
              <a:pathLst>
                <a:path w="540" h="317" extrusionOk="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EBE6EC">
                    <a:alpha val="20000"/>
                  </a:srgbClr>
                </a:gs>
                <a:gs pos="20000">
                  <a:srgbClr val="EBE6EC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8" name="Google Shape;38;p15"/>
            <p:cNvSpPr/>
            <p:nvPr/>
          </p:nvSpPr>
          <p:spPr>
            <a:xfrm rot="1800004">
              <a:off x="5243759" y="1430747"/>
              <a:ext cx="305942" cy="538275"/>
            </a:xfrm>
            <a:custGeom>
              <a:avLst/>
              <a:gdLst/>
              <a:ahLst/>
              <a:cxnLst/>
              <a:rect l="l" t="t" r="r" b="b"/>
              <a:pathLst>
                <a:path w="266" h="468" extrusionOk="0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EBE6EC">
                    <a:alpha val="20000"/>
                  </a:srgbClr>
                </a:gs>
                <a:gs pos="20000">
                  <a:srgbClr val="EBE6EC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9" name="Google Shape;39;p15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avLst/>
              <a:gdLst/>
              <a:ahLst/>
              <a:cxnLst/>
              <a:rect l="l" t="t" r="r" b="b"/>
              <a:pathLst>
                <a:path w="274" h="468" extrusionOk="0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EBE6EC">
                    <a:alpha val="20000"/>
                  </a:srgbClr>
                </a:gs>
                <a:gs pos="20000">
                  <a:srgbClr val="EBE6EC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41" name="Google Shape;41;p15" descr="Fondo digital de puntos de datos"/>
          <p:cNvPicPr preferRelativeResize="0"/>
          <p:nvPr/>
        </p:nvPicPr>
        <p:blipFill rotWithShape="1">
          <a:blip r:embed="rId2">
            <a:alphaModFix/>
          </a:blip>
          <a:srcRect l="34500" r="34500" b="-1"/>
          <a:stretch/>
        </p:blipFill>
        <p:spPr>
          <a:xfrm>
            <a:off x="4517547" y="543876"/>
            <a:ext cx="3849300" cy="3849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2" name="Google Shape;42;p15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" y="4792145"/>
            <a:ext cx="916890" cy="351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ulo + subtitulo_2">
  <p:cSld name="Titulo + subtitulo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412152" y="411956"/>
            <a:ext cx="3884400" cy="21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Gill Sans"/>
              <a:buNone/>
              <a:defRPr sz="4100"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412153" y="2735028"/>
            <a:ext cx="3884400" cy="17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46" name="Google Shape;46;p16"/>
          <p:cNvGrpSpPr/>
          <p:nvPr/>
        </p:nvGrpSpPr>
        <p:grpSpPr>
          <a:xfrm>
            <a:off x="433333" y="4134005"/>
            <a:ext cx="621179" cy="620372"/>
            <a:chOff x="10462655" y="1408306"/>
            <a:chExt cx="828239" cy="827162"/>
          </a:xfrm>
        </p:grpSpPr>
        <p:sp>
          <p:nvSpPr>
            <p:cNvPr id="47" name="Google Shape;47;p16"/>
            <p:cNvSpPr/>
            <p:nvPr/>
          </p:nvSpPr>
          <p:spPr>
            <a:xfrm rot="8100000">
              <a:off x="10608754" y="1507728"/>
              <a:ext cx="538391" cy="629592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EBE6EC"/>
                </a:gs>
                <a:gs pos="30000">
                  <a:srgbClr val="EBE6EC"/>
                </a:gs>
                <a:gs pos="40000">
                  <a:srgbClr val="EDE9EE"/>
                </a:gs>
                <a:gs pos="60000">
                  <a:srgbClr val="EBE6EC"/>
                </a:gs>
                <a:gs pos="100000">
                  <a:schemeClr val="lt2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8" name="Google Shape;48;p16"/>
            <p:cNvSpPr/>
            <p:nvPr/>
          </p:nvSpPr>
          <p:spPr>
            <a:xfrm rot="-8100000">
              <a:off x="10614089" y="1424612"/>
              <a:ext cx="269832" cy="540088"/>
            </a:xfrm>
            <a:prstGeom prst="ellipse">
              <a:avLst/>
            </a:prstGeom>
            <a:solidFill>
              <a:srgbClr val="EBE6EC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50" name="Google Shape;50;p16" descr="Un primer plano de un grafo"/>
          <p:cNvPicPr preferRelativeResize="0"/>
          <p:nvPr/>
        </p:nvPicPr>
        <p:blipFill rotWithShape="1">
          <a:blip r:embed="rId2">
            <a:alphaModFix/>
          </a:blip>
          <a:srcRect l="9" r="7"/>
          <a:stretch/>
        </p:blipFill>
        <p:spPr>
          <a:xfrm>
            <a:off x="4571691" y="0"/>
            <a:ext cx="4571996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6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" y="4792154"/>
            <a:ext cx="916890" cy="35135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6"/>
          <p:cNvSpPr txBox="1">
            <a:spLocks noGrp="1"/>
          </p:cNvSpPr>
          <p:nvPr>
            <p:ph type="sldNum" idx="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_2">
  <p:cSld name="Contenido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body" idx="1"/>
          </p:nvPr>
        </p:nvSpPr>
        <p:spPr>
          <a:xfrm>
            <a:off x="413147" y="763581"/>
            <a:ext cx="8317800" cy="29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55" name="Google Shape;55;p1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" y="4792145"/>
            <a:ext cx="916890" cy="351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7" descr="Fondo digital de puntos de datos"/>
          <p:cNvPicPr preferRelativeResize="0"/>
          <p:nvPr/>
        </p:nvPicPr>
        <p:blipFill rotWithShape="1">
          <a:blip r:embed="rId3">
            <a:alphaModFix/>
          </a:blip>
          <a:srcRect l="20688" b="88037"/>
          <a:stretch/>
        </p:blipFill>
        <p:spPr>
          <a:xfrm>
            <a:off x="0" y="0"/>
            <a:ext cx="9144000" cy="61590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144579" y="131200"/>
            <a:ext cx="81033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">
  <p:cSld name="Contenido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413147" y="763581"/>
            <a:ext cx="8317800" cy="29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2pPr>
            <a:lvl3pPr marL="1371600" lvl="2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1" name="Google Shape;61;p18" descr="Imagen en blanco y negro&#10;&#10;Descripción generada automáticamente con confianza me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4898"/>
            <a:ext cx="9144001" cy="61590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22201" y="147675"/>
            <a:ext cx="8317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ill Sans"/>
              <a:buNone/>
              <a:defRPr sz="2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63" name="Google Shape;63;p18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064" y="4704732"/>
            <a:ext cx="916890" cy="35135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e sección">
  <p:cSld name="Título de secció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ctrTitle"/>
          </p:nvPr>
        </p:nvSpPr>
        <p:spPr>
          <a:xfrm>
            <a:off x="413147" y="3034098"/>
            <a:ext cx="8336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0" y="3445"/>
            <a:ext cx="9144000" cy="2829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/>
          <p:nvPr/>
        </p:nvSpPr>
        <p:spPr>
          <a:xfrm>
            <a:off x="919330" y="2889169"/>
            <a:ext cx="270000" cy="270000"/>
          </a:xfrm>
          <a:prstGeom prst="ellipse">
            <a:avLst/>
          </a:pr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" name="Google Shape;69;p19"/>
          <p:cNvSpPr txBox="1">
            <a:spLocks noGrp="1"/>
          </p:cNvSpPr>
          <p:nvPr>
            <p:ph type="ftr" idx="11"/>
          </p:nvPr>
        </p:nvSpPr>
        <p:spPr>
          <a:xfrm>
            <a:off x="3271892" y="4874112"/>
            <a:ext cx="2600100" cy="1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contenidos 1">
  <p:cSld name="Dos contenidos 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/>
          <p:nvPr/>
        </p:nvSpPr>
        <p:spPr>
          <a:xfrm>
            <a:off x="8302398" y="250031"/>
            <a:ext cx="270000" cy="270000"/>
          </a:xfrm>
          <a:prstGeom prst="ellipse">
            <a:avLst/>
          </a:pr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3" name="Google Shape;73;p20"/>
          <p:cNvGrpSpPr/>
          <p:nvPr/>
        </p:nvGrpSpPr>
        <p:grpSpPr>
          <a:xfrm>
            <a:off x="175051" y="4038015"/>
            <a:ext cx="620372" cy="621178"/>
            <a:chOff x="2895768" y="1234488"/>
            <a:chExt cx="827163" cy="828237"/>
          </a:xfrm>
        </p:grpSpPr>
        <p:sp>
          <p:nvSpPr>
            <p:cNvPr id="74" name="Google Shape;74;p20"/>
            <p:cNvSpPr/>
            <p:nvPr/>
          </p:nvSpPr>
          <p:spPr>
            <a:xfrm rot="2700000">
              <a:off x="3040791" y="1332636"/>
              <a:ext cx="538391" cy="629592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EBE6EC"/>
                </a:gs>
                <a:gs pos="30000">
                  <a:srgbClr val="EBE6EC"/>
                </a:gs>
                <a:gs pos="40000">
                  <a:srgbClr val="EEEAEF"/>
                </a:gs>
                <a:gs pos="60000">
                  <a:srgbClr val="EBE6EC"/>
                </a:gs>
                <a:gs pos="100000">
                  <a:schemeClr val="lt2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" name="Google Shape;75;p20"/>
            <p:cNvSpPr/>
            <p:nvPr/>
          </p:nvSpPr>
          <p:spPr>
            <a:xfrm rot="8100000">
              <a:off x="3047202" y="1506331"/>
              <a:ext cx="269832" cy="540088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50000">
                  <a:schemeClr val="lt2"/>
                </a:gs>
                <a:gs pos="100000">
                  <a:srgbClr val="EBE6E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>
            <a:off x="413147" y="381476"/>
            <a:ext cx="83178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1"/>
          </p:nvPr>
        </p:nvSpPr>
        <p:spPr>
          <a:xfrm>
            <a:off x="413147" y="1572881"/>
            <a:ext cx="4076700" cy="29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2"/>
          </p:nvPr>
        </p:nvSpPr>
        <p:spPr>
          <a:xfrm>
            <a:off x="4654155" y="1572881"/>
            <a:ext cx="4076700" cy="29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ftr" idx="11"/>
          </p:nvPr>
        </p:nvSpPr>
        <p:spPr>
          <a:xfrm>
            <a:off x="3271892" y="4874112"/>
            <a:ext cx="2600100" cy="1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contenidos">
  <p:cSld name="Dos contenido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8302398" y="250031"/>
            <a:ext cx="270000" cy="270000"/>
          </a:xfrm>
          <a:prstGeom prst="ellipse">
            <a:avLst/>
          </a:pr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" name="Google Shape;83;p21"/>
          <p:cNvSpPr txBox="1">
            <a:spLocks noGrp="1"/>
          </p:cNvSpPr>
          <p:nvPr>
            <p:ph type="title"/>
          </p:nvPr>
        </p:nvSpPr>
        <p:spPr>
          <a:xfrm>
            <a:off x="413147" y="366236"/>
            <a:ext cx="8317800" cy="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21"/>
          <p:cNvGrpSpPr/>
          <p:nvPr/>
        </p:nvGrpSpPr>
        <p:grpSpPr>
          <a:xfrm>
            <a:off x="7759187" y="1374491"/>
            <a:ext cx="1243226" cy="1243226"/>
            <a:chOff x="10111337" y="2146598"/>
            <a:chExt cx="1657635" cy="1657635"/>
          </a:xfrm>
        </p:grpSpPr>
        <p:sp>
          <p:nvSpPr>
            <p:cNvPr id="85" name="Google Shape;85;p21"/>
            <p:cNvSpPr/>
            <p:nvPr/>
          </p:nvSpPr>
          <p:spPr>
            <a:xfrm rot="8100000">
              <a:off x="10399854" y="2343591"/>
              <a:ext cx="1080601" cy="1263649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EBE6EC"/>
                </a:gs>
                <a:gs pos="30000">
                  <a:srgbClr val="EBE6EC"/>
                </a:gs>
                <a:gs pos="40000">
                  <a:srgbClr val="EDE9EE"/>
                </a:gs>
                <a:gs pos="60000">
                  <a:srgbClr val="EBE6EC"/>
                </a:gs>
                <a:gs pos="100000">
                  <a:schemeClr val="lt2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6" name="Google Shape;86;p21"/>
            <p:cNvSpPr/>
            <p:nvPr/>
          </p:nvSpPr>
          <p:spPr>
            <a:xfrm rot="-8100000">
              <a:off x="10415002" y="2179669"/>
              <a:ext cx="540088" cy="1080176"/>
            </a:xfrm>
            <a:prstGeom prst="ellipse">
              <a:avLst/>
            </a:prstGeom>
            <a:gradFill>
              <a:gsLst>
                <a:gs pos="0">
                  <a:srgbClr val="EEEAEF">
                    <a:alpha val="32549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87" name="Google Shape;87;p21"/>
          <p:cNvSpPr/>
          <p:nvPr/>
        </p:nvSpPr>
        <p:spPr>
          <a:xfrm>
            <a:off x="3221831" y="0"/>
            <a:ext cx="270000" cy="205978"/>
          </a:xfrm>
          <a:custGeom>
            <a:avLst/>
            <a:gdLst/>
            <a:ahLst/>
            <a:cxnLst/>
            <a:rect l="l" t="t" r="r" b="b"/>
            <a:pathLst>
              <a:path w="360000" h="274638" extrusionOk="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8" name="Google Shape;88;p21"/>
          <p:cNvGrpSpPr/>
          <p:nvPr/>
        </p:nvGrpSpPr>
        <p:grpSpPr>
          <a:xfrm>
            <a:off x="175051" y="4038015"/>
            <a:ext cx="620372" cy="621178"/>
            <a:chOff x="2895768" y="1234488"/>
            <a:chExt cx="827163" cy="828237"/>
          </a:xfrm>
        </p:grpSpPr>
        <p:sp>
          <p:nvSpPr>
            <p:cNvPr id="89" name="Google Shape;89;p21"/>
            <p:cNvSpPr/>
            <p:nvPr/>
          </p:nvSpPr>
          <p:spPr>
            <a:xfrm rot="2700000">
              <a:off x="3040791" y="1332636"/>
              <a:ext cx="538391" cy="629592"/>
            </a:xfrm>
            <a:custGeom>
              <a:avLst/>
              <a:gdLst/>
              <a:ahLst/>
              <a:cxnLst/>
              <a:rect l="l" t="t" r="r" b="b"/>
              <a:pathLst>
                <a:path w="1080000" h="1262947" extrusionOk="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EBE6EC"/>
                </a:gs>
                <a:gs pos="30000">
                  <a:srgbClr val="EBE6EC"/>
                </a:gs>
                <a:gs pos="40000">
                  <a:srgbClr val="EEEAEF"/>
                </a:gs>
                <a:gs pos="60000">
                  <a:srgbClr val="EBE6EC"/>
                </a:gs>
                <a:gs pos="100000">
                  <a:schemeClr val="lt2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0" name="Google Shape;90;p21"/>
            <p:cNvSpPr/>
            <p:nvPr/>
          </p:nvSpPr>
          <p:spPr>
            <a:xfrm rot="8100000">
              <a:off x="3047202" y="1506331"/>
              <a:ext cx="269832" cy="540088"/>
            </a:xfrm>
            <a:prstGeom prst="ellipse">
              <a:avLst/>
            </a:prstGeom>
            <a:gradFill>
              <a:gsLst>
                <a:gs pos="0">
                  <a:schemeClr val="lt2"/>
                </a:gs>
                <a:gs pos="50000">
                  <a:schemeClr val="lt2"/>
                </a:gs>
                <a:gs pos="100000">
                  <a:srgbClr val="EBE6E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91" name="Google Shape;91;p21"/>
          <p:cNvSpPr txBox="1">
            <a:spLocks noGrp="1"/>
          </p:cNvSpPr>
          <p:nvPr>
            <p:ph type="body" idx="1"/>
          </p:nvPr>
        </p:nvSpPr>
        <p:spPr>
          <a:xfrm>
            <a:off x="413147" y="1473821"/>
            <a:ext cx="4076700" cy="29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4725979" y="1473821"/>
            <a:ext cx="4004400" cy="29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ftr" idx="11"/>
          </p:nvPr>
        </p:nvSpPr>
        <p:spPr>
          <a:xfrm>
            <a:off x="3221831" y="4867815"/>
            <a:ext cx="2600100" cy="1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>
            <a:spLocks noGrp="1"/>
          </p:cNvSpPr>
          <p:nvPr>
            <p:ph type="ctrTitle"/>
          </p:nvPr>
        </p:nvSpPr>
        <p:spPr>
          <a:xfrm>
            <a:off x="2519362" y="292380"/>
            <a:ext cx="6211500" cy="22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subTitle" idx="1"/>
          </p:nvPr>
        </p:nvSpPr>
        <p:spPr>
          <a:xfrm>
            <a:off x="2519362" y="2652713"/>
            <a:ext cx="6211500" cy="19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ftr" idx="11"/>
          </p:nvPr>
        </p:nvSpPr>
        <p:spPr>
          <a:xfrm>
            <a:off x="3271892" y="4874112"/>
            <a:ext cx="2600100" cy="1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sp>
        <p:nvSpPr>
          <p:cNvPr id="100" name="Google Shape;100;p22"/>
          <p:cNvSpPr/>
          <p:nvPr/>
        </p:nvSpPr>
        <p:spPr>
          <a:xfrm rot="2700000">
            <a:off x="459616" y="361324"/>
            <a:ext cx="809496" cy="946621"/>
          </a:xfrm>
          <a:custGeom>
            <a:avLst/>
            <a:gdLst/>
            <a:ahLst/>
            <a:cxnLst/>
            <a:rect l="l" t="t" r="r" b="b"/>
            <a:pathLst>
              <a:path w="1080000" h="1262947" extrusionOk="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EBE6EC"/>
              </a:gs>
              <a:gs pos="30000">
                <a:srgbClr val="EBE6EC"/>
              </a:gs>
              <a:gs pos="40000">
                <a:srgbClr val="EEEAEF"/>
              </a:gs>
              <a:gs pos="60000">
                <a:srgbClr val="EBE6EC"/>
              </a:gs>
              <a:gs pos="100000">
                <a:schemeClr val="lt2"/>
              </a:gs>
            </a:gsLst>
            <a:lin ang="6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22"/>
          <p:cNvSpPr/>
          <p:nvPr/>
        </p:nvSpPr>
        <p:spPr>
          <a:xfrm rot="8100000">
            <a:off x="470015" y="621851"/>
            <a:ext cx="405172" cy="80992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chemeClr val="lt2"/>
              </a:gs>
              <a:gs pos="100000">
                <a:srgbClr val="EBE6EC"/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1350602" y="1854641"/>
            <a:ext cx="270000" cy="270000"/>
          </a:xfrm>
          <a:prstGeom prst="ellipse">
            <a:avLst/>
          </a:prstGeom>
          <a:gradFill>
            <a:gsLst>
              <a:gs pos="0">
                <a:schemeClr val="lt2"/>
              </a:gs>
              <a:gs pos="60000">
                <a:schemeClr val="lt2"/>
              </a:gs>
              <a:gs pos="100000">
                <a:srgbClr val="F4F1F4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3" name="Google Shape;103;p22"/>
          <p:cNvGrpSpPr/>
          <p:nvPr/>
        </p:nvGrpSpPr>
        <p:grpSpPr>
          <a:xfrm>
            <a:off x="968298" y="3224925"/>
            <a:ext cx="1562844" cy="1562844"/>
            <a:chOff x="4840714" y="3556951"/>
            <a:chExt cx="2083792" cy="2083792"/>
          </a:xfrm>
        </p:grpSpPr>
        <p:sp>
          <p:nvSpPr>
            <p:cNvPr id="104" name="Google Shape;104;p22"/>
            <p:cNvSpPr/>
            <p:nvPr/>
          </p:nvSpPr>
          <p:spPr>
            <a:xfrm rot="8100000" flipH="1">
              <a:off x="5006330" y="4192886"/>
              <a:ext cx="1851817" cy="925909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5" name="Google Shape;105;p22"/>
            <p:cNvSpPr/>
            <p:nvPr/>
          </p:nvSpPr>
          <p:spPr>
            <a:xfrm rot="8100000" flipH="1">
              <a:off x="4956702" y="4051292"/>
              <a:ext cx="1851817" cy="1095110"/>
            </a:xfrm>
            <a:custGeom>
              <a:avLst/>
              <a:gdLst/>
              <a:ahLst/>
              <a:cxnLst/>
              <a:rect l="l" t="t" r="r" b="b"/>
              <a:pathLst>
                <a:path w="2658746" h="1329373" extrusionOk="0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F4F1F4">
                <a:alpha val="4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6" name="Google Shape;106;p22"/>
            <p:cNvSpPr/>
            <p:nvPr/>
          </p:nvSpPr>
          <p:spPr>
            <a:xfrm rot="2700000" flipH="1">
              <a:off x="6040495" y="3601733"/>
              <a:ext cx="106915" cy="466690"/>
            </a:xfrm>
            <a:prstGeom prst="ellipse">
              <a:avLst/>
            </a:prstGeom>
            <a:solidFill>
              <a:srgbClr val="EBE6EC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7" name="Google Shape;107;p22"/>
            <p:cNvSpPr/>
            <p:nvPr/>
          </p:nvSpPr>
          <p:spPr>
            <a:xfrm rot="2700000" flipH="1">
              <a:off x="5059469" y="4582759"/>
              <a:ext cx="106915" cy="466690"/>
            </a:xfrm>
            <a:prstGeom prst="ellipse">
              <a:avLst/>
            </a:prstGeom>
            <a:solidFill>
              <a:srgbClr val="EBE6EC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13147" y="413100"/>
            <a:ext cx="8317800" cy="9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13147" y="1585397"/>
            <a:ext cx="8318700" cy="29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04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ftr" idx="11"/>
          </p:nvPr>
        </p:nvSpPr>
        <p:spPr>
          <a:xfrm>
            <a:off x="3271892" y="4874112"/>
            <a:ext cx="2600100" cy="1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260">
          <p15:clr>
            <a:srgbClr val="F26B43"/>
          </p15:clr>
        </p15:guide>
        <p15:guide id="4" pos="5500">
          <p15:clr>
            <a:srgbClr val="F26B43"/>
          </p15:clr>
        </p15:guide>
        <p15:guide id="5" orient="horz" pos="259">
          <p15:clr>
            <a:srgbClr val="F26B43"/>
          </p15:clr>
        </p15:guide>
        <p15:guide id="6" orient="horz" pos="2981">
          <p15:clr>
            <a:srgbClr val="F26B43"/>
          </p15:clr>
        </p15:guide>
        <p15:guide id="7" pos="618">
          <p15:clr>
            <a:srgbClr val="A4A3A4"/>
          </p15:clr>
        </p15:guide>
        <p15:guide id="8" pos="703">
          <p15:clr>
            <a:srgbClr val="A4A3A4"/>
          </p15:clr>
        </p15:guide>
        <p15:guide id="9" pos="1060">
          <p15:clr>
            <a:srgbClr val="A4A3A4"/>
          </p15:clr>
        </p15:guide>
        <p15:guide id="10" pos="1145">
          <p15:clr>
            <a:srgbClr val="A4A3A4"/>
          </p15:clr>
        </p15:guide>
        <p15:guide id="11" pos="1502">
          <p15:clr>
            <a:srgbClr val="A4A3A4"/>
          </p15:clr>
        </p15:guide>
        <p15:guide id="12" pos="1587">
          <p15:clr>
            <a:srgbClr val="A4A3A4"/>
          </p15:clr>
        </p15:guide>
        <p15:guide id="13" pos="1945">
          <p15:clr>
            <a:srgbClr val="A4A3A4"/>
          </p15:clr>
        </p15:guide>
        <p15:guide id="14" pos="2029">
          <p15:clr>
            <a:srgbClr val="A4A3A4"/>
          </p15:clr>
        </p15:guide>
        <p15:guide id="15" pos="2387">
          <p15:clr>
            <a:srgbClr val="A4A3A4"/>
          </p15:clr>
        </p15:guide>
        <p15:guide id="16" pos="2489">
          <p15:clr>
            <a:srgbClr val="A4A3A4"/>
          </p15:clr>
        </p15:guide>
        <p15:guide id="17" pos="2829">
          <p15:clr>
            <a:srgbClr val="A4A3A4"/>
          </p15:clr>
        </p15:guide>
        <p15:guide id="18" pos="2931">
          <p15:clr>
            <a:srgbClr val="A4A3A4"/>
          </p15:clr>
        </p15:guide>
        <p15:guide id="19" pos="3271">
          <p15:clr>
            <a:srgbClr val="A4A3A4"/>
          </p15:clr>
        </p15:guide>
        <p15:guide id="20" pos="3373">
          <p15:clr>
            <a:srgbClr val="A4A3A4"/>
          </p15:clr>
        </p15:guide>
        <p15:guide id="21" pos="3713">
          <p15:clr>
            <a:srgbClr val="A4A3A4"/>
          </p15:clr>
        </p15:guide>
        <p15:guide id="22" pos="3815">
          <p15:clr>
            <a:srgbClr val="A4A3A4"/>
          </p15:clr>
        </p15:guide>
        <p15:guide id="23" pos="4156">
          <p15:clr>
            <a:srgbClr val="A4A3A4"/>
          </p15:clr>
        </p15:guide>
        <p15:guide id="24" pos="4258">
          <p15:clr>
            <a:srgbClr val="A4A3A4"/>
          </p15:clr>
        </p15:guide>
        <p15:guide id="25" pos="4615">
          <p15:clr>
            <a:srgbClr val="A4A3A4"/>
          </p15:clr>
        </p15:guide>
        <p15:guide id="26" pos="4700">
          <p15:clr>
            <a:srgbClr val="A4A3A4"/>
          </p15:clr>
        </p15:guide>
        <p15:guide id="27" pos="5057">
          <p15:clr>
            <a:srgbClr val="A4A3A4"/>
          </p15:clr>
        </p15:guide>
        <p15:guide id="28" pos="5142">
          <p15:clr>
            <a:srgbClr val="A4A3A4"/>
          </p15:clr>
        </p15:guide>
        <p15:guide id="29" orient="horz" pos="2879">
          <p15:clr>
            <a:srgbClr val="A4A3A4"/>
          </p15:clr>
        </p15:guide>
        <p15:guide id="30" orient="horz" pos="1569">
          <p15:clr>
            <a:srgbClr val="A4A3A4"/>
          </p15:clr>
        </p15:guide>
        <p15:guide id="31" orient="horz" pos="1671">
          <p15:clr>
            <a:srgbClr val="A4A3A4"/>
          </p15:clr>
        </p15:guide>
        <p15:guide id="32" orient="horz" pos="634">
          <p15:clr>
            <a:srgbClr val="A4A3A4"/>
          </p15:clr>
        </p15:guide>
        <p15:guide id="33" orient="horz" pos="719">
          <p15:clr>
            <a:srgbClr val="A4A3A4"/>
          </p15:clr>
        </p15:guide>
        <p15:guide id="34" orient="horz" pos="1110">
          <p15:clr>
            <a:srgbClr val="A4A3A4"/>
          </p15:clr>
        </p15:guide>
        <p15:guide id="35" orient="horz" pos="1195">
          <p15:clr>
            <a:srgbClr val="A4A3A4"/>
          </p15:clr>
        </p15:guide>
        <p15:guide id="36" orient="horz" pos="2045">
          <p15:clr>
            <a:srgbClr val="A4A3A4"/>
          </p15:clr>
        </p15:guide>
        <p15:guide id="37" orient="horz" pos="2130">
          <p15:clr>
            <a:srgbClr val="A4A3A4"/>
          </p15:clr>
        </p15:guide>
        <p15:guide id="38" orient="horz" pos="2504">
          <p15:clr>
            <a:srgbClr val="A4A3A4"/>
          </p15:clr>
        </p15:guide>
        <p15:guide id="39" orient="horz" pos="2606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ampusposgrado.fi.uba.ar/course/view.php?id=39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cmassobrio@fi.uba.ar" TargetMode="External"/><Relationship Id="rId5" Type="http://schemas.openxmlformats.org/officeDocument/2006/relationships/hyperlink" Target="mailto:benjamin.tourn@unraf.edu.ar" TargetMode="External"/><Relationship Id="rId4" Type="http://schemas.openxmlformats.org/officeDocument/2006/relationships/hyperlink" Target="https://github.com/FIUBA-Posgrado-Inteligencia-Artificial/CEIA-PIN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>
            <a:spLocks noGrp="1"/>
          </p:cNvSpPr>
          <p:nvPr>
            <p:ph type="ctrTitle"/>
          </p:nvPr>
        </p:nvSpPr>
        <p:spPr>
          <a:xfrm>
            <a:off x="162550" y="2490805"/>
            <a:ext cx="5559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 dirty="0"/>
              <a:t>Presentación</a:t>
            </a:r>
            <a:endParaRPr dirty="0"/>
          </a:p>
        </p:txBody>
      </p:sp>
      <p:sp>
        <p:nvSpPr>
          <p:cNvPr id="113" name="Google Shape;113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336946" y="373856"/>
            <a:ext cx="59703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 sz="3200"/>
              <a:t>Docentes</a:t>
            </a:r>
            <a:endParaRPr sz="3200"/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0815" y="102375"/>
            <a:ext cx="2113824" cy="235282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>
            <a:spLocks noGrp="1"/>
          </p:cNvSpPr>
          <p:nvPr>
            <p:ph type="body" idx="1"/>
          </p:nvPr>
        </p:nvSpPr>
        <p:spPr>
          <a:xfrm>
            <a:off x="4937225" y="411938"/>
            <a:ext cx="3690900" cy="17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 b="1">
                <a:solidFill>
                  <a:schemeClr val="dk2"/>
                </a:solidFill>
              </a:rPr>
              <a:t>Benjamin A. Tourn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Doctor en Ingeniería (UNL-CIMEC-CONICET)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Esp. en Inteligencia Artificial (FIUBA)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Ingeniero Mecánico (UTN-FRSF)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Becario postdoctoral (CIT-UNRaf-CONICET)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Profesor Asociado (UNRaf)</a:t>
            </a:r>
            <a:endParaRPr/>
          </a:p>
        </p:txBody>
      </p:sp>
      <p:pic>
        <p:nvPicPr>
          <p:cNvPr id="121" name="Google Shape;121;p2" descr="Un hombre sonriend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l="10160"/>
          <a:stretch/>
        </p:blipFill>
        <p:spPr>
          <a:xfrm>
            <a:off x="2840825" y="2571750"/>
            <a:ext cx="2113825" cy="23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s-419" sz="800"/>
              <a:t>2</a:t>
            </a:fld>
            <a:endParaRPr sz="800"/>
          </a:p>
        </p:txBody>
      </p:sp>
      <p:sp>
        <p:nvSpPr>
          <p:cNvPr id="123" name="Google Shape;123;p2"/>
          <p:cNvSpPr txBox="1">
            <a:spLocks noGrp="1"/>
          </p:cNvSpPr>
          <p:nvPr>
            <p:ph type="body" idx="1"/>
          </p:nvPr>
        </p:nvSpPr>
        <p:spPr>
          <a:xfrm>
            <a:off x="4974425" y="2571700"/>
            <a:ext cx="4067400" cy="23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 b="1">
                <a:solidFill>
                  <a:schemeClr val="dk2"/>
                </a:solidFill>
              </a:rPr>
              <a:t>Carlos G. Massobrio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Esp. en Inteligencia Artificial (FIUBA – TP Final PINN)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Posgrado en robótica ind. (FIUBA)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Ingeniero mecánico (FIUBA)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Participación en proy. nucleares (CNEA y NASA).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419">
                <a:solidFill>
                  <a:schemeClr val="dk2"/>
                </a:solidFill>
              </a:rPr>
              <a:t>Evaluación de estado y rehabilitación de centrales hidroeléctricas (ENARSA)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>
            <a:spLocks noGrp="1"/>
          </p:cNvSpPr>
          <p:nvPr>
            <p:ph type="title"/>
          </p:nvPr>
        </p:nvSpPr>
        <p:spPr>
          <a:xfrm>
            <a:off x="325069" y="83494"/>
            <a:ext cx="85326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419"/>
              <a:t>Temario resumido (tentativo)</a:t>
            </a:r>
            <a:endParaRPr/>
          </a:p>
        </p:txBody>
      </p:sp>
      <p:sp>
        <p:nvSpPr>
          <p:cNvPr id="129" name="Google Shape;129;p3"/>
          <p:cNvSpPr txBox="1">
            <a:spLocks noGrp="1"/>
          </p:cNvSpPr>
          <p:nvPr>
            <p:ph type="body" idx="1"/>
          </p:nvPr>
        </p:nvSpPr>
        <p:spPr>
          <a:xfrm>
            <a:off x="413106" y="1944599"/>
            <a:ext cx="8317800" cy="30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419" b="1"/>
              <a:t>Módulo 1: </a:t>
            </a:r>
            <a:r>
              <a:rPr lang="es-419"/>
              <a:t>Introducción, generalidades, repaso DL, optimización, etc.</a:t>
            </a:r>
            <a:endParaRPr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b="1"/>
              <a:t>Módulo 2: </a:t>
            </a:r>
            <a:r>
              <a:rPr lang="es-419"/>
              <a:t>PINN para resolver problemas de física matemática</a:t>
            </a:r>
            <a:endParaRPr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b="1"/>
              <a:t>Módulo 3: </a:t>
            </a:r>
            <a:r>
              <a:rPr lang="es-419"/>
              <a:t>Implementación básica de problemas directos mediante PINN</a:t>
            </a:r>
            <a:endParaRPr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b="1"/>
              <a:t>Módulo 4: </a:t>
            </a:r>
            <a:r>
              <a:rPr lang="es-419"/>
              <a:t>Estrategias para mejorar el desempeño de PINN</a:t>
            </a:r>
            <a:endParaRPr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b="1"/>
              <a:t>Módulo 5: </a:t>
            </a:r>
            <a:r>
              <a:rPr lang="es-419"/>
              <a:t>PINN para problemas inversos</a:t>
            </a:r>
            <a:endParaRPr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b="1"/>
              <a:t>Módulo 6: </a:t>
            </a:r>
            <a:r>
              <a:rPr lang="es-419"/>
              <a:t>Modelos de operadores neuronales</a:t>
            </a:r>
            <a:endParaRPr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b="1"/>
              <a:t>Módulo 7: </a:t>
            </a:r>
            <a:r>
              <a:rPr lang="es-419"/>
              <a:t>Tópicos avanzados de PINN y estado del arte</a:t>
            </a:r>
            <a:endParaRPr/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b="1"/>
              <a:t>Módulo 8: </a:t>
            </a:r>
            <a:r>
              <a:rPr lang="es-419"/>
              <a:t>Presentación y defensa de trabajos</a:t>
            </a:r>
            <a:endParaRPr/>
          </a:p>
        </p:txBody>
      </p:sp>
      <p:sp>
        <p:nvSpPr>
          <p:cNvPr id="130" name="Google Shape;130;p3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-419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325069" y="83494"/>
            <a:ext cx="85326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419"/>
              <a:t>Objetivos</a:t>
            </a:r>
            <a:endParaRPr/>
          </a:p>
        </p:txBody>
      </p:sp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413150" y="2048025"/>
            <a:ext cx="8532600" cy="24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942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218"/>
              <a:buChar char="●"/>
            </a:pPr>
            <a:r>
              <a:rPr lang="es-419" sz="2000" b="1"/>
              <a:t>Necesidad de estrategias específicas para problemas científico-tecnológicos</a:t>
            </a:r>
            <a:endParaRPr sz="2000"/>
          </a:p>
          <a:p>
            <a:pPr marL="457200" lvl="0" indent="-36942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218"/>
              <a:buChar char="●"/>
            </a:pPr>
            <a:r>
              <a:rPr lang="es-419" sz="2000" b="1"/>
              <a:t>Análisis crítico de las PINN</a:t>
            </a:r>
            <a:endParaRPr sz="2000"/>
          </a:p>
          <a:p>
            <a:pPr marL="457200" lvl="0" indent="-36942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218"/>
              <a:buChar char="●"/>
            </a:pPr>
            <a:r>
              <a:rPr lang="es-419" sz="2000" b="1"/>
              <a:t>Desarrollo actual y estado del arte</a:t>
            </a:r>
            <a:endParaRPr sz="2000"/>
          </a:p>
          <a:p>
            <a:pPr marL="457200" lvl="0" indent="-36942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218"/>
              <a:buChar char="●"/>
            </a:pPr>
            <a:r>
              <a:rPr lang="es-419" sz="2000" b="1"/>
              <a:t>Metodologías y estrategias de implementación</a:t>
            </a:r>
            <a:endParaRPr sz="2000"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-419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325069" y="83494"/>
            <a:ext cx="85326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419"/>
              <a:t>Recursos y comunicación</a:t>
            </a: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body" idx="1"/>
          </p:nvPr>
        </p:nvSpPr>
        <p:spPr>
          <a:xfrm>
            <a:off x="413150" y="2048025"/>
            <a:ext cx="8317800" cy="24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 b="1" u="sng">
                <a:solidFill>
                  <a:schemeClr val="hlink"/>
                </a:solidFill>
                <a:hlinkClick r:id="rId3"/>
              </a:rPr>
              <a:t>Campus FIUBA-Posgrados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 b="1" u="sng">
                <a:solidFill>
                  <a:schemeClr val="hlink"/>
                </a:solidFill>
                <a:hlinkClick r:id="rId4"/>
              </a:rPr>
              <a:t>Repositorio GitHub CEIA-PINN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 b="1"/>
              <a:t>Canales de comunicación: </a:t>
            </a:r>
            <a:r>
              <a:rPr lang="es-419" sz="2000"/>
              <a:t>foros disponibles en el campus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 b="1"/>
              <a:t>Correos de contacto: 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419" sz="2000"/>
              <a:t>Benjamin Tourn: </a:t>
            </a:r>
            <a:r>
              <a:rPr lang="es-419" sz="2000" u="sng">
                <a:solidFill>
                  <a:schemeClr val="hlink"/>
                </a:solidFill>
                <a:hlinkClick r:id="rId5"/>
              </a:rPr>
              <a:t>benjamin.tourn@unraf.edu.ar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419" sz="2000"/>
              <a:t>Carlos G. Massobrio: </a:t>
            </a:r>
            <a:r>
              <a:rPr lang="es-419" sz="2000" u="sng">
                <a:solidFill>
                  <a:schemeClr val="hlink"/>
                </a:solidFill>
                <a:hlinkClick r:id="rId6"/>
              </a:rPr>
              <a:t>cmassobrio@fi.uba.ar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-419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325069" y="83494"/>
            <a:ext cx="85326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419"/>
              <a:t>Desarrollo del curso - Clases</a:t>
            </a:r>
            <a:endParaRPr/>
          </a:p>
        </p:txBody>
      </p:sp>
      <p:sp>
        <p:nvSpPr>
          <p:cNvPr id="150" name="Google Shape;150;p6"/>
          <p:cNvSpPr txBox="1">
            <a:spLocks noGrp="1"/>
          </p:cNvSpPr>
          <p:nvPr>
            <p:ph type="body" idx="1"/>
          </p:nvPr>
        </p:nvSpPr>
        <p:spPr>
          <a:xfrm>
            <a:off x="413150" y="2048025"/>
            <a:ext cx="8317800" cy="19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Exposición de los temas correspondientes a cada módulo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Análisis y resolución de casos prácticos sencillos como actividad complementaria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Discusión de casos prácticos en sesiones posteriores para esclarecer conceptos teóricos.</a:t>
            </a:r>
            <a:endParaRPr sz="2000"/>
          </a:p>
        </p:txBody>
      </p:sp>
      <p:sp>
        <p:nvSpPr>
          <p:cNvPr id="151" name="Google Shape;151;p6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-419"/>
              <a:t>6</a:t>
            </a:fld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413100" y="3975500"/>
            <a:ext cx="8317800" cy="5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1" i="1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IMPORTANTE: recuerden completar la “encuesta clase a clase” </a:t>
            </a:r>
            <a:endParaRPr sz="1800" b="1" i="1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325069" y="83494"/>
            <a:ext cx="85326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419"/>
              <a:t>Desarrollo del curso - Trabajos prácticos</a:t>
            </a:r>
            <a:endParaRPr/>
          </a:p>
        </p:txBody>
      </p:sp>
      <p:sp>
        <p:nvSpPr>
          <p:cNvPr id="158" name="Google Shape;158;p7"/>
          <p:cNvSpPr txBox="1">
            <a:spLocks noGrp="1"/>
          </p:cNvSpPr>
          <p:nvPr>
            <p:ph type="body" idx="1"/>
          </p:nvPr>
        </p:nvSpPr>
        <p:spPr>
          <a:xfrm>
            <a:off x="413156" y="2048024"/>
            <a:ext cx="8317800" cy="30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Los trabajos prácticos se basan en un caso testigo de transferencia de calor (ver aquí).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Cada semana se deberá entregar un trabajo práctico. En total son 6 actividades que se presentarán de la clase N°2 a la clase N°7 (sujeto a cambios).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El documento principal del trabajo puede presentarse en formato jupyter notebook. 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El objetivo es contar al final del curso con un trabajo que integre un proceso completo de desarrollo de un modelado mediante PINN.</a:t>
            </a:r>
            <a:endParaRPr sz="2000"/>
          </a:p>
        </p:txBody>
      </p:sp>
      <p:sp>
        <p:nvSpPr>
          <p:cNvPr id="159" name="Google Shape;159;p7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s-419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title"/>
          </p:nvPr>
        </p:nvSpPr>
        <p:spPr>
          <a:xfrm>
            <a:off x="325069" y="83494"/>
            <a:ext cx="8532600" cy="17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419"/>
              <a:t>Condiciones de aprobación</a:t>
            </a:r>
            <a:endParaRPr/>
          </a:p>
        </p:txBody>
      </p:sp>
      <p:sp>
        <p:nvSpPr>
          <p:cNvPr id="165" name="Google Shape;165;p8"/>
          <p:cNvSpPr txBox="1">
            <a:spLocks noGrp="1"/>
          </p:cNvSpPr>
          <p:nvPr>
            <p:ph type="body" idx="1"/>
          </p:nvPr>
        </p:nvSpPr>
        <p:spPr>
          <a:xfrm>
            <a:off x="413150" y="2048025"/>
            <a:ext cx="8532600" cy="29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419" b="1"/>
              <a:t>Asistencia mínima: </a:t>
            </a:r>
            <a:r>
              <a:rPr lang="es-419"/>
              <a:t>75% de la cursada (6 clases).</a:t>
            </a:r>
            <a:endParaRPr/>
          </a:p>
          <a:p>
            <a:pPr marL="457200" lvl="0" indent="-3492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s-419" b="1"/>
              <a:t>Aprobación :</a:t>
            </a:r>
            <a:endParaRPr/>
          </a:p>
          <a:p>
            <a:pPr marL="914400" lvl="1" indent="-3492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Courier New"/>
              <a:buChar char="o"/>
            </a:pPr>
            <a:r>
              <a:rPr lang="es-419" sz="1900"/>
              <a:t>Entrega semanal de un trabajo práctico. Los enunciados se presentan de la clase N°2 a la clase N°7.</a:t>
            </a:r>
            <a:endParaRPr sz="1900"/>
          </a:p>
          <a:p>
            <a:pPr marL="914400" lvl="1" indent="-3492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Courier New"/>
              <a:buChar char="o"/>
            </a:pPr>
            <a:r>
              <a:rPr lang="es-419" sz="1900"/>
              <a:t>Criterio de calificación: implementación, resultados, etc.</a:t>
            </a:r>
            <a:endParaRPr sz="1900"/>
          </a:p>
          <a:p>
            <a:pPr marL="914400" lvl="1" indent="-34925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900"/>
              <a:buFont typeface="Courier New"/>
              <a:buChar char="o"/>
            </a:pPr>
            <a:r>
              <a:rPr lang="es-419" sz="1900"/>
              <a:t>Los alumnos deberán concluir la cursada con la totalidad de actividades corregidas.</a:t>
            </a:r>
            <a:endParaRPr sz="1900"/>
          </a:p>
        </p:txBody>
      </p:sp>
      <p:sp>
        <p:nvSpPr>
          <p:cNvPr id="166" name="Google Shape;166;p8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>
            <a:spLocks noGrp="1"/>
          </p:cNvSpPr>
          <p:nvPr>
            <p:ph type="ctrTitle"/>
          </p:nvPr>
        </p:nvSpPr>
        <p:spPr>
          <a:xfrm>
            <a:off x="656775" y="1989725"/>
            <a:ext cx="29799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¿Dudas o preguntas?</a:t>
            </a:r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sldNum" idx="12"/>
          </p:nvPr>
        </p:nvSpPr>
        <p:spPr>
          <a:xfrm>
            <a:off x="7461647" y="4880409"/>
            <a:ext cx="1269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rgbClr val="000000"/>
      </a:dk1>
      <a:lt1>
        <a:srgbClr val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Presentación en pantalla (16:9)</PresentationFormat>
  <Paragraphs>61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Gill Sans</vt:lpstr>
      <vt:lpstr>Roboto</vt:lpstr>
      <vt:lpstr>Courier New</vt:lpstr>
      <vt:lpstr>Play</vt:lpstr>
      <vt:lpstr>Arial</vt:lpstr>
      <vt:lpstr>3DFloatVTI</vt:lpstr>
      <vt:lpstr>Presentación</vt:lpstr>
      <vt:lpstr>Docentes</vt:lpstr>
      <vt:lpstr>Temario resumido (tentativo)</vt:lpstr>
      <vt:lpstr>Objetivos</vt:lpstr>
      <vt:lpstr>Recursos y comunicación</vt:lpstr>
      <vt:lpstr>Desarrollo del curso - Clases</vt:lpstr>
      <vt:lpstr>Desarrollo del curso - Trabajos prácticos</vt:lpstr>
      <vt:lpstr>Condiciones de aprobación</vt:lpstr>
      <vt:lpstr>¿Dudas o 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Massobrio, Carlos</cp:lastModifiedBy>
  <cp:revision>1</cp:revision>
  <dcterms:modified xsi:type="dcterms:W3CDTF">2025-06-19T13:14:13Z</dcterms:modified>
</cp:coreProperties>
</file>